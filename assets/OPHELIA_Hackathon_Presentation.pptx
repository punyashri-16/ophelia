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411480"/>
            <a:ext cx="11274552" cy="5989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640080"/>
            <a:ext cx="10607040" cy="2103120"/>
          </a:xfrm>
          <a:prstGeom prst="rect">
            <a:avLst/>
          </a:prstGeom>
          <a:noFill/>
        </p:spPr>
        <p:txBody>
          <a:bodyPr wrap="square">
            <a:spAutoFit/>
          </a:bodyPr>
          <a:lstStyle/>
          <a:p>
            <a:pPr>
              <a:defRPr sz="1100" b="1">
                <a:solidFill>
                  <a:srgbClr val="0284C7"/>
                </a:solidFill>
                <a:latin typeface="Segoe UI"/>
              </a:defRPr>
            </a:pPr>
            <a:r>
              <a:t>HACKATHON PROBLEM STATEMENT: COMBINING AI WITH INTELLIGENT AUTOMATION VIA n8n</a:t>
            </a:r>
          </a:p>
          <a:p>
            <a:pPr>
              <a:spcBef>
                <a:spcPts val="200"/>
              </a:spcBef>
              <a:defRPr sz="5400" b="1">
                <a:solidFill>
                  <a:srgbClr val="0F172A"/>
                </a:solidFill>
                <a:latin typeface="Segoe UI"/>
              </a:defRPr>
            </a:pPr>
            <a:r>
              <a:t>OPHELIA</a:t>
            </a:r>
          </a:p>
          <a:p>
            <a:pPr>
              <a:defRPr sz="2200" b="1">
                <a:solidFill>
                  <a:srgbClr val="0E7490"/>
                </a:solidFill>
                <a:latin typeface="Segoe UI"/>
              </a:defRPr>
            </a:pPr>
            <a:r>
              <a:t>Your Intelligent Personal Automation Assistant</a:t>
            </a:r>
          </a:p>
          <a:p>
            <a:pPr>
              <a:spcBef>
                <a:spcPts val="300"/>
              </a:spcBef>
              <a:defRPr sz="1650" i="1">
                <a:solidFill>
                  <a:srgbClr val="475569"/>
                </a:solidFill>
                <a:latin typeface="Segoe UI"/>
              </a:defRPr>
            </a:pPr>
            <a:r>
              <a:t>From "What should I do?"  to  "It’s already handled."</a:t>
            </a:r>
          </a:p>
        </p:txBody>
      </p:sp>
      <p:sp>
        <p:nvSpPr>
          <p:cNvPr id="5" name="Rounded Rectangle 4"/>
          <p:cNvSpPr/>
          <p:nvPr/>
        </p:nvSpPr>
        <p:spPr>
          <a:xfrm>
            <a:off x="777240" y="2971800"/>
            <a:ext cx="1965960" cy="1051560"/>
          </a:xfrm>
          <a:prstGeom prst="roundRect">
            <a:avLst/>
          </a:prstGeom>
          <a:solidFill>
            <a:srgbClr val="F1F5F9"/>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200" b="1">
                <a:solidFill>
                  <a:srgbClr val="64748B"/>
                </a:solidFill>
                <a:latin typeface="Segoe UI"/>
              </a:defRPr>
            </a:pPr>
            <a:r>
              <a:t>1. USER COMMAND</a:t>
            </a:r>
          </a:p>
          <a:p>
            <a:pPr algn="ctr">
              <a:spcBef>
                <a:spcPts val="300"/>
              </a:spcBef>
              <a:defRPr sz="1000">
                <a:solidFill>
                  <a:srgbClr val="475569"/>
                </a:solidFill>
                <a:latin typeface="Segoe UI"/>
              </a:defRPr>
            </a:pPr>
            <a:r>
              <a:t>Natural intent input</a:t>
            </a:r>
          </a:p>
        </p:txBody>
      </p:sp>
      <p:sp>
        <p:nvSpPr>
          <p:cNvPr id="6" name="TextBox 5"/>
          <p:cNvSpPr txBox="1"/>
          <p:nvPr/>
        </p:nvSpPr>
        <p:spPr>
          <a:xfrm>
            <a:off x="2743200" y="3200400"/>
            <a:ext cx="219456" cy="548640"/>
          </a:xfrm>
          <a:prstGeom prst="rect">
            <a:avLst/>
          </a:prstGeom>
          <a:noFill/>
        </p:spPr>
        <p:txBody>
          <a:bodyPr wrap="none" lIns="0" tIns="0" rIns="0" bIns="0">
            <a:spAutoFit/>
          </a:bodyPr>
          <a:lstStyle/>
          <a:p>
            <a:pPr algn="ctr">
              <a:defRPr sz="2400" b="1">
                <a:solidFill>
                  <a:srgbClr val="94A3B8"/>
                </a:solidFill>
                <a:latin typeface="Segoe UI"/>
              </a:defRPr>
            </a:pPr>
            <a:r>
              <a:t>→</a:t>
            </a:r>
          </a:p>
        </p:txBody>
      </p:sp>
      <p:sp>
        <p:nvSpPr>
          <p:cNvPr id="7" name="Rounded Rectangle 6"/>
          <p:cNvSpPr/>
          <p:nvPr/>
        </p:nvSpPr>
        <p:spPr>
          <a:xfrm>
            <a:off x="2962656" y="2971800"/>
            <a:ext cx="1965960" cy="1051560"/>
          </a:xfrm>
          <a:prstGeom prst="roundRect">
            <a:avLst/>
          </a:prstGeom>
          <a:solidFill>
            <a:srgbClr val="E0F2FE"/>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200" b="1">
                <a:solidFill>
                  <a:srgbClr val="0369A1"/>
                </a:solidFill>
                <a:latin typeface="Segoe UI"/>
              </a:defRPr>
            </a:pPr>
            <a:r>
              <a:t>2. OPHELIA BRAIN</a:t>
            </a:r>
          </a:p>
          <a:p>
            <a:pPr algn="ctr">
              <a:spcBef>
                <a:spcPts val="300"/>
              </a:spcBef>
              <a:defRPr sz="1000">
                <a:solidFill>
                  <a:srgbClr val="475569"/>
                </a:solidFill>
                <a:latin typeface="Segoe UI"/>
              </a:defRPr>
            </a:pPr>
            <a:r>
              <a:t>LLM Reasoning engine</a:t>
            </a:r>
          </a:p>
        </p:txBody>
      </p:sp>
      <p:sp>
        <p:nvSpPr>
          <p:cNvPr id="8" name="TextBox 7"/>
          <p:cNvSpPr txBox="1"/>
          <p:nvPr/>
        </p:nvSpPr>
        <p:spPr>
          <a:xfrm>
            <a:off x="4928616" y="3200400"/>
            <a:ext cx="219456" cy="548640"/>
          </a:xfrm>
          <a:prstGeom prst="rect">
            <a:avLst/>
          </a:prstGeom>
          <a:noFill/>
        </p:spPr>
        <p:txBody>
          <a:bodyPr wrap="none" lIns="0" tIns="0" rIns="0" bIns="0">
            <a:spAutoFit/>
          </a:bodyPr>
          <a:lstStyle/>
          <a:p>
            <a:pPr algn="ctr">
              <a:defRPr sz="2400" b="1">
                <a:solidFill>
                  <a:srgbClr val="94A3B8"/>
                </a:solidFill>
                <a:latin typeface="Segoe UI"/>
              </a:defRPr>
            </a:pPr>
            <a:r>
              <a:t>→</a:t>
            </a:r>
          </a:p>
        </p:txBody>
      </p:sp>
      <p:sp>
        <p:nvSpPr>
          <p:cNvPr id="9" name="Rounded Rectangle 8"/>
          <p:cNvSpPr/>
          <p:nvPr/>
        </p:nvSpPr>
        <p:spPr>
          <a:xfrm>
            <a:off x="5148072" y="2971800"/>
            <a:ext cx="1965960" cy="1051560"/>
          </a:xfrm>
          <a:prstGeom prst="roundRect">
            <a:avLst/>
          </a:prstGeom>
          <a:solidFill>
            <a:srgbClr val="E6FF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200" b="1">
                <a:solidFill>
                  <a:srgbClr val="0D9488"/>
                </a:solidFill>
                <a:latin typeface="Segoe UI"/>
              </a:defRPr>
            </a:pPr>
            <a:r>
              <a:t>3. CONTEXT &amp; PLAN</a:t>
            </a:r>
          </a:p>
          <a:p>
            <a:pPr algn="ctr">
              <a:spcBef>
                <a:spcPts val="300"/>
              </a:spcBef>
              <a:defRPr sz="1000">
                <a:solidFill>
                  <a:srgbClr val="475569"/>
                </a:solidFill>
                <a:latin typeface="Segoe UI"/>
              </a:defRPr>
            </a:pPr>
            <a:r>
              <a:t>Schedule &amp; dependencies</a:t>
            </a:r>
          </a:p>
        </p:txBody>
      </p:sp>
      <p:sp>
        <p:nvSpPr>
          <p:cNvPr id="10" name="TextBox 9"/>
          <p:cNvSpPr txBox="1"/>
          <p:nvPr/>
        </p:nvSpPr>
        <p:spPr>
          <a:xfrm>
            <a:off x="7114032" y="3200400"/>
            <a:ext cx="219456" cy="548640"/>
          </a:xfrm>
          <a:prstGeom prst="rect">
            <a:avLst/>
          </a:prstGeom>
          <a:noFill/>
        </p:spPr>
        <p:txBody>
          <a:bodyPr wrap="none" lIns="0" tIns="0" rIns="0" bIns="0">
            <a:spAutoFit/>
          </a:bodyPr>
          <a:lstStyle/>
          <a:p>
            <a:pPr algn="ctr">
              <a:defRPr sz="2400" b="1">
                <a:solidFill>
                  <a:srgbClr val="94A3B8"/>
                </a:solidFill>
                <a:latin typeface="Segoe UI"/>
              </a:defRPr>
            </a:pPr>
            <a:r>
              <a:t>→</a:t>
            </a:r>
          </a:p>
        </p:txBody>
      </p:sp>
      <p:sp>
        <p:nvSpPr>
          <p:cNvPr id="11" name="Rounded Rectangle 10"/>
          <p:cNvSpPr/>
          <p:nvPr/>
        </p:nvSpPr>
        <p:spPr>
          <a:xfrm>
            <a:off x="7333488" y="2971800"/>
            <a:ext cx="1965960" cy="105156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200" b="1">
                <a:solidFill>
                  <a:srgbClr val="B45309"/>
                </a:solidFill>
                <a:latin typeface="Segoe UI"/>
              </a:defRPr>
            </a:pPr>
            <a:r>
              <a:t>4. n8n BACKBONE</a:t>
            </a:r>
          </a:p>
          <a:p>
            <a:pPr algn="ctr">
              <a:spcBef>
                <a:spcPts val="300"/>
              </a:spcBef>
              <a:defRPr sz="1000">
                <a:solidFill>
                  <a:srgbClr val="475569"/>
                </a:solidFill>
                <a:latin typeface="Segoe UI"/>
              </a:defRPr>
            </a:pPr>
            <a:r>
              <a:t>Multi-step orchestration</a:t>
            </a:r>
          </a:p>
        </p:txBody>
      </p:sp>
      <p:sp>
        <p:nvSpPr>
          <p:cNvPr id="12" name="TextBox 11"/>
          <p:cNvSpPr txBox="1"/>
          <p:nvPr/>
        </p:nvSpPr>
        <p:spPr>
          <a:xfrm>
            <a:off x="9299448" y="3200400"/>
            <a:ext cx="219456" cy="548640"/>
          </a:xfrm>
          <a:prstGeom prst="rect">
            <a:avLst/>
          </a:prstGeom>
          <a:noFill/>
        </p:spPr>
        <p:txBody>
          <a:bodyPr wrap="none" lIns="0" tIns="0" rIns="0" bIns="0">
            <a:spAutoFit/>
          </a:bodyPr>
          <a:lstStyle/>
          <a:p>
            <a:pPr algn="ctr">
              <a:defRPr sz="2400" b="1">
                <a:solidFill>
                  <a:srgbClr val="94A3B8"/>
                </a:solidFill>
                <a:latin typeface="Segoe UI"/>
              </a:defRPr>
            </a:pPr>
            <a:r>
              <a:t>→</a:t>
            </a:r>
          </a:p>
        </p:txBody>
      </p:sp>
      <p:sp>
        <p:nvSpPr>
          <p:cNvPr id="13" name="Rounded Rectangle 12"/>
          <p:cNvSpPr/>
          <p:nvPr/>
        </p:nvSpPr>
        <p:spPr>
          <a:xfrm>
            <a:off x="9518904" y="2971800"/>
            <a:ext cx="1965960" cy="105156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defRPr sz="1200" b="1">
                <a:solidFill>
                  <a:srgbClr val="10B981"/>
                </a:solidFill>
                <a:latin typeface="Segoe UI"/>
              </a:defRPr>
            </a:pPr>
            <a:r>
              <a:t>5. AUTOMATED RESULT</a:t>
            </a:r>
          </a:p>
          <a:p>
            <a:pPr algn="ctr">
              <a:spcBef>
                <a:spcPts val="300"/>
              </a:spcBef>
              <a:defRPr sz="1000">
                <a:solidFill>
                  <a:srgbClr val="475569"/>
                </a:solidFill>
                <a:latin typeface="Segoe UI"/>
              </a:defRPr>
            </a:pPr>
            <a:r>
              <a:t>Calendar, tasks &amp; APIs done</a:t>
            </a:r>
          </a:p>
        </p:txBody>
      </p:sp>
      <p:sp>
        <p:nvSpPr>
          <p:cNvPr id="14" name="Rounded Rectangle 13"/>
          <p:cNvSpPr/>
          <p:nvPr/>
        </p:nvSpPr>
        <p:spPr>
          <a:xfrm>
            <a:off x="777240" y="4251960"/>
            <a:ext cx="3401568" cy="187451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37160" rIns="164592" rtlCol="0" anchor="ctr"/>
          <a:lstStyle/>
          <a:p>
            <a:pPr algn="ctr">
              <a:defRPr sz="1400" b="1">
                <a:solidFill>
                  <a:srgbClr val="0284C7"/>
                </a:solidFill>
                <a:latin typeface="Segoe UI"/>
              </a:defRPr>
            </a:pPr>
            <a:r>
              <a:t>★  Visual Command Center</a:t>
            </a:r>
          </a:p>
          <a:p>
            <a:pPr>
              <a:spcBef>
                <a:spcPts val="400"/>
              </a:spcBef>
              <a:defRPr sz="1150">
                <a:solidFill>
                  <a:srgbClr val="475569"/>
                </a:solidFill>
                <a:latin typeface="Segoe UI"/>
              </a:defRPr>
            </a:pPr>
            <a:r>
              <a:t>NOT a generic chat window. A dynamic dashboard highlighting active priorities, scheduled tasks, and real-time execution logs.</a:t>
            </a:r>
          </a:p>
        </p:txBody>
      </p:sp>
      <p:sp>
        <p:nvSpPr>
          <p:cNvPr id="15" name="Rounded Rectangle 14"/>
          <p:cNvSpPr/>
          <p:nvPr/>
        </p:nvSpPr>
        <p:spPr>
          <a:xfrm>
            <a:off x="4398264" y="4251960"/>
            <a:ext cx="3401568" cy="187451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37160" rIns="164592" rtlCol="0" anchor="ctr"/>
          <a:lstStyle/>
          <a:p>
            <a:pPr algn="ctr">
              <a:defRPr sz="1400" b="1">
                <a:solidFill>
                  <a:srgbClr val="0284C7"/>
                </a:solidFill>
                <a:latin typeface="Segoe UI"/>
              </a:defRPr>
            </a:pPr>
            <a:r>
              <a:t>★  Proactive Assistant</a:t>
            </a:r>
          </a:p>
          <a:p>
            <a:pPr>
              <a:spcBef>
                <a:spcPts val="400"/>
              </a:spcBef>
              <a:defRPr sz="1150">
                <a:solidFill>
                  <a:srgbClr val="475569"/>
                </a:solidFill>
                <a:latin typeface="Segoe UI"/>
              </a:defRPr>
            </a:pPr>
            <a:r>
              <a:t>Monitors calendars, deadlines, and active workloads in the background to suggest timely interventions before problems arise.</a:t>
            </a:r>
          </a:p>
        </p:txBody>
      </p:sp>
      <p:sp>
        <p:nvSpPr>
          <p:cNvPr id="16" name="Rounded Rectangle 15"/>
          <p:cNvSpPr/>
          <p:nvPr/>
        </p:nvSpPr>
        <p:spPr>
          <a:xfrm>
            <a:off x="8019288" y="4251960"/>
            <a:ext cx="3401568" cy="187451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137160" rIns="164592" rtlCol="0" anchor="ctr"/>
          <a:lstStyle/>
          <a:p>
            <a:pPr algn="ctr">
              <a:defRPr sz="1400" b="1">
                <a:solidFill>
                  <a:srgbClr val="0284C7"/>
                </a:solidFill>
                <a:latin typeface="Segoe UI"/>
              </a:defRPr>
            </a:pPr>
            <a:r>
              <a:t>★  One-Command Execution</a:t>
            </a:r>
          </a:p>
          <a:p>
            <a:pPr>
              <a:spcBef>
                <a:spcPts val="400"/>
              </a:spcBef>
              <a:defRPr sz="1150">
                <a:solidFill>
                  <a:srgbClr val="475569"/>
                </a:solidFill>
                <a:latin typeface="Segoe UI"/>
              </a:defRPr>
            </a:pPr>
            <a:r>
              <a:t>Translates single high-level requests ("organize my week") into dozens of coordinated, real-world actions via n8n.</a:t>
            </a:r>
          </a:p>
        </p:txBody>
      </p:sp>
      <p:sp>
        <p:nvSpPr>
          <p:cNvPr id="17" name="TextBox 16"/>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1 of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SYSTEM ARCHITECTURE &amp; TECH STACK</a:t>
            </a:r>
          </a:p>
        </p:txBody>
      </p:sp>
      <p:sp>
        <p:nvSpPr>
          <p:cNvPr id="4" name="TextBox 3"/>
          <p:cNvSpPr txBox="1"/>
          <p:nvPr/>
        </p:nvSpPr>
        <p:spPr>
          <a:xfrm>
            <a:off x="457200" y="640080"/>
            <a:ext cx="11274552" cy="777240"/>
          </a:xfrm>
          <a:prstGeom prst="rect">
            <a:avLst/>
          </a:prstGeom>
          <a:noFill/>
        </p:spPr>
        <p:txBody>
          <a:bodyPr wrap="square" lIns="0" tIns="0" rIns="0" bIns="0">
            <a:spAutoFit/>
          </a:bodyPr>
          <a:lstStyle/>
          <a:p>
            <a:pPr>
              <a:defRPr sz="2600" b="1">
                <a:solidFill>
                  <a:srgbClr val="0F172A"/>
                </a:solidFill>
                <a:latin typeface="Segoe UI"/>
              </a:defRPr>
            </a:pPr>
            <a:r>
              <a:t>Clean Layered Architecture: Intelligence Meets Orchestration</a:t>
            </a:r>
          </a:p>
          <a:p>
            <a:pPr>
              <a:spcBef>
                <a:spcPts val="200"/>
              </a:spcBef>
              <a:defRPr sz="1350">
                <a:solidFill>
                  <a:srgbClr val="475569"/>
                </a:solidFill>
                <a:latin typeface="Segoe UI"/>
              </a:defRPr>
            </a:pPr>
            <a:r>
              <a:t>n8n serves as the automation backbone connecting LLM intelligence to real-world services</a:t>
            </a:r>
          </a:p>
        </p:txBody>
      </p:sp>
      <p:sp>
        <p:nvSpPr>
          <p:cNvPr id="5" name="Rounded Rectangle 4"/>
          <p:cNvSpPr/>
          <p:nvPr/>
        </p:nvSpPr>
        <p:spPr>
          <a:xfrm>
            <a:off x="457200" y="1508760"/>
            <a:ext cx="7680960" cy="4892040"/>
          </a:xfrm>
          <a:prstGeom prst="roundRect">
            <a:avLst/>
          </a:prstGeom>
          <a:solidFill>
            <a:srgbClr val="0B1120"/>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08760"/>
            <a:ext cx="7680960" cy="347472"/>
          </a:xfrm>
          <a:prstGeom prst="rect">
            <a:avLst/>
          </a:prstGeom>
          <a:solidFill>
            <a:srgbClr val="131C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21792" y="1627632"/>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04672" y="1627632"/>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 y="1627632"/>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1554480"/>
            <a:ext cx="6675120" cy="274320"/>
          </a:xfrm>
          <a:prstGeom prst="rect">
            <a:avLst/>
          </a:prstGeom>
          <a:noFill/>
        </p:spPr>
        <p:txBody>
          <a:bodyPr wrap="none" lIns="0" tIns="0" rIns="0" bIns="0">
            <a:spAutoFit/>
          </a:bodyPr>
          <a:lstStyle/>
          <a:p>
            <a:pPr>
              <a:defRPr sz="950" b="1">
                <a:solidFill>
                  <a:srgbClr val="94A3B8"/>
                </a:solidFill>
                <a:latin typeface="Consolas"/>
              </a:defRPr>
            </a:pPr>
            <a:r>
              <a:t>ophelia-architecture-runtime.sh  (End-to-End Orchestration Loop)</a:t>
            </a:r>
          </a:p>
        </p:txBody>
      </p:sp>
      <p:sp>
        <p:nvSpPr>
          <p:cNvPr id="11" name="TextBox 10"/>
          <p:cNvSpPr txBox="1"/>
          <p:nvPr/>
        </p:nvSpPr>
        <p:spPr>
          <a:xfrm>
            <a:off x="594360" y="1920240"/>
            <a:ext cx="5530360" cy="4201150"/>
          </a:xfrm>
          <a:prstGeom prst="rect">
            <a:avLst/>
          </a:prstGeom>
          <a:noFill/>
        </p:spPr>
        <p:txBody>
          <a:bodyPr wrap="none" lIns="0" tIns="0" rIns="0" bIns="0">
            <a:spAutoFit/>
          </a:bodyPr>
          <a:lstStyle/>
          <a:p>
            <a:pPr>
              <a:spcBef>
                <a:spcPts val="0"/>
              </a:spcBef>
              <a:spcAft>
                <a:spcPts val="0"/>
              </a:spcAft>
              <a:defRPr sz="919" b="1">
                <a:solidFill>
                  <a:srgbClr val="38BDF8"/>
                </a:solidFill>
                <a:latin typeface="Consolas"/>
              </a:defRPr>
            </a:pPr>
            <a:r>
              <a:rPr sz="1050" dirty="0"/>
              <a:t>USER INTERFACE (AI Personal Command Center)</a:t>
            </a:r>
          </a:p>
          <a:p>
            <a:pPr>
              <a:spcBef>
                <a:spcPts val="0"/>
              </a:spcBef>
              <a:spcAft>
                <a:spcPts val="0"/>
              </a:spcAft>
              <a:defRPr sz="919" b="0">
                <a:solidFill>
                  <a:srgbClr val="F1F5F9"/>
                </a:solidFill>
                <a:latin typeface="Consolas"/>
              </a:defRPr>
            </a:pPr>
            <a:r>
              <a:rPr sz="1050" dirty="0"/>
              <a:t>├── Active Attention Feed        ← high-priority tasks &amp; live conflicts</a:t>
            </a:r>
          </a:p>
          <a:p>
            <a:pPr>
              <a:spcBef>
                <a:spcPts val="0"/>
              </a:spcBef>
              <a:spcAft>
                <a:spcPts val="0"/>
              </a:spcAft>
              <a:defRPr sz="919" b="0">
                <a:solidFill>
                  <a:srgbClr val="F1F5F9"/>
                </a:solidFill>
                <a:latin typeface="Consolas"/>
              </a:defRPr>
            </a:pPr>
            <a:r>
              <a:rPr sz="1050" dirty="0"/>
              <a:t>├── Proactive Action Cards     ← 1-click [Review Plan] or [Execute Action]</a:t>
            </a:r>
          </a:p>
          <a:p>
            <a:pPr>
              <a:spcBef>
                <a:spcPts val="0"/>
              </a:spcBef>
              <a:spcAft>
                <a:spcPts val="0"/>
              </a:spcAft>
              <a:defRPr sz="919" b="0">
                <a:solidFill>
                  <a:srgbClr val="F1F5F9"/>
                </a:solidFill>
                <a:latin typeface="Consolas"/>
              </a:defRPr>
            </a:pPr>
            <a:r>
              <a:rPr sz="1050" dirty="0"/>
              <a:t>├── Natural Language Input     ← single high-level prompt ('Organize week')</a:t>
            </a:r>
          </a:p>
          <a:p>
            <a:pPr>
              <a:spcBef>
                <a:spcPts val="0"/>
              </a:spcBef>
              <a:spcAft>
                <a:spcPts val="0"/>
              </a:spcAft>
              <a:defRPr sz="919" b="0">
                <a:solidFill>
                  <a:srgbClr val="F1F5F9"/>
                </a:solidFill>
                <a:latin typeface="Consolas"/>
              </a:defRPr>
            </a:pPr>
            <a:r>
              <a:rPr sz="1050" dirty="0"/>
              <a:t>└── Workflow Audit Log         ← live execution traces &amp; completed runs</a:t>
            </a:r>
          </a:p>
          <a:p>
            <a:pPr>
              <a:spcBef>
                <a:spcPts val="0"/>
              </a:spcBef>
              <a:spcAft>
                <a:spcPts val="0"/>
              </a:spcAft>
              <a:defRPr sz="919" b="0">
                <a:solidFill>
                  <a:srgbClr val="94A3B8"/>
                </a:solidFill>
                <a:latin typeface="Consolas"/>
              </a:defRPr>
            </a:pPr>
            <a:r>
              <a:rPr sz="1050" dirty="0"/>
              <a:t>        │</a:t>
            </a:r>
          </a:p>
          <a:p>
            <a:pPr>
              <a:spcBef>
                <a:spcPts val="0"/>
              </a:spcBef>
              <a:spcAft>
                <a:spcPts val="0"/>
              </a:spcAft>
              <a:defRPr sz="919" b="0">
                <a:solidFill>
                  <a:srgbClr val="FBBF24"/>
                </a:solidFill>
                <a:latin typeface="Consolas"/>
              </a:defRPr>
            </a:pPr>
            <a:r>
              <a:rPr sz="1050" dirty="0"/>
              <a:t>        ▼  [REST / WebSocket JSON Payload]</a:t>
            </a:r>
          </a:p>
          <a:p>
            <a:pPr>
              <a:spcBef>
                <a:spcPts val="0"/>
              </a:spcBef>
              <a:spcAft>
                <a:spcPts val="0"/>
              </a:spcAft>
              <a:defRPr sz="919" b="1">
                <a:solidFill>
                  <a:srgbClr val="38BDF8"/>
                </a:solidFill>
                <a:latin typeface="Consolas"/>
              </a:defRPr>
            </a:pPr>
            <a:r>
              <a:rPr sz="1050" dirty="0"/>
              <a:t>AI INTELLIGENCE LAYER (LLM Brain)</a:t>
            </a:r>
          </a:p>
          <a:p>
            <a:pPr>
              <a:spcBef>
                <a:spcPts val="0"/>
              </a:spcBef>
              <a:spcAft>
                <a:spcPts val="0"/>
              </a:spcAft>
              <a:defRPr sz="919" b="0">
                <a:solidFill>
                  <a:srgbClr val="F1F5F9"/>
                </a:solidFill>
                <a:latin typeface="Consolas"/>
              </a:defRPr>
            </a:pPr>
            <a:r>
              <a:rPr sz="1050" dirty="0"/>
              <a:t>├── Intent Parser &amp; Router     ← extracts entities, dates &amp; constraints</a:t>
            </a:r>
          </a:p>
          <a:p>
            <a:pPr>
              <a:spcBef>
                <a:spcPts val="0"/>
              </a:spcBef>
              <a:spcAft>
                <a:spcPts val="0"/>
              </a:spcAft>
              <a:defRPr sz="919" b="0">
                <a:solidFill>
                  <a:srgbClr val="F1F5F9"/>
                </a:solidFill>
                <a:latin typeface="Consolas"/>
              </a:defRPr>
            </a:pPr>
            <a:r>
              <a:rPr sz="1050" dirty="0"/>
              <a:t>├── Context Extractor          ← pulls active tasks, commitments &amp; habits</a:t>
            </a:r>
          </a:p>
          <a:p>
            <a:pPr>
              <a:spcBef>
                <a:spcPts val="0"/>
              </a:spcBef>
              <a:spcAft>
                <a:spcPts val="0"/>
              </a:spcAft>
              <a:defRPr sz="919" b="0">
                <a:solidFill>
                  <a:srgbClr val="F1F5F9"/>
                </a:solidFill>
                <a:latin typeface="Consolas"/>
              </a:defRPr>
            </a:pPr>
            <a:r>
              <a:rPr sz="1050" dirty="0"/>
              <a:t>├── Multi-Step Goal Planner    ← decomposes request into tool calls</a:t>
            </a:r>
          </a:p>
          <a:p>
            <a:pPr>
              <a:spcBef>
                <a:spcPts val="0"/>
              </a:spcBef>
              <a:spcAft>
                <a:spcPts val="0"/>
              </a:spcAft>
              <a:defRPr sz="919" b="0">
                <a:solidFill>
                  <a:srgbClr val="F1F5F9"/>
                </a:solidFill>
                <a:latin typeface="Consolas"/>
              </a:defRPr>
            </a:pPr>
            <a:r>
              <a:rPr sz="1050" dirty="0"/>
              <a:t>└── Action Safety Classifier   ← autonomous vs human-in-the-loop gate</a:t>
            </a:r>
          </a:p>
          <a:p>
            <a:pPr>
              <a:spcBef>
                <a:spcPts val="0"/>
              </a:spcBef>
              <a:spcAft>
                <a:spcPts val="0"/>
              </a:spcAft>
              <a:defRPr sz="919" b="0">
                <a:solidFill>
                  <a:srgbClr val="94A3B8"/>
                </a:solidFill>
                <a:latin typeface="Consolas"/>
              </a:defRPr>
            </a:pPr>
            <a:r>
              <a:rPr sz="1050" dirty="0"/>
              <a:t>        │</a:t>
            </a:r>
          </a:p>
          <a:p>
            <a:pPr>
              <a:spcBef>
                <a:spcPts val="0"/>
              </a:spcBef>
              <a:spcAft>
                <a:spcPts val="0"/>
              </a:spcAft>
              <a:defRPr sz="919" b="0">
                <a:solidFill>
                  <a:srgbClr val="FBBF24"/>
                </a:solidFill>
                <a:latin typeface="Consolas"/>
              </a:defRPr>
            </a:pPr>
            <a:r>
              <a:rPr sz="1050" dirty="0"/>
              <a:t>        ▼  [Structured n8n Webhook Trigger]</a:t>
            </a:r>
          </a:p>
          <a:p>
            <a:pPr>
              <a:spcBef>
                <a:spcPts val="0"/>
              </a:spcBef>
              <a:spcAft>
                <a:spcPts val="0"/>
              </a:spcAft>
              <a:defRPr sz="919" b="1">
                <a:solidFill>
                  <a:srgbClr val="34D399"/>
                </a:solidFill>
                <a:latin typeface="Consolas"/>
              </a:defRPr>
            </a:pPr>
            <a:r>
              <a:rPr sz="1050" dirty="0"/>
              <a:t>AUTOMATION BACKBONE (n8n Orchestration Engine)</a:t>
            </a:r>
          </a:p>
          <a:p>
            <a:pPr>
              <a:spcBef>
                <a:spcPts val="0"/>
              </a:spcBef>
              <a:spcAft>
                <a:spcPts val="0"/>
              </a:spcAft>
              <a:defRPr sz="919" b="0">
                <a:solidFill>
                  <a:srgbClr val="F1F5F9"/>
                </a:solidFill>
                <a:latin typeface="Consolas"/>
              </a:defRPr>
            </a:pPr>
            <a:r>
              <a:rPr sz="1050" dirty="0"/>
              <a:t>├── Webhook Ingestion Node     ← validates execution schema from LLM</a:t>
            </a:r>
          </a:p>
          <a:p>
            <a:pPr>
              <a:spcBef>
                <a:spcPts val="0"/>
              </a:spcBef>
              <a:spcAft>
                <a:spcPts val="0"/>
              </a:spcAft>
              <a:defRPr sz="919" b="0">
                <a:solidFill>
                  <a:srgbClr val="F1F5F9"/>
                </a:solidFill>
                <a:latin typeface="Consolas"/>
              </a:defRPr>
            </a:pPr>
            <a:r>
              <a:rPr sz="1050" dirty="0"/>
              <a:t>├── Dynamic Workflow Router    ← dispatches tasks, calendar &amp; alerts</a:t>
            </a:r>
          </a:p>
          <a:p>
            <a:pPr>
              <a:spcBef>
                <a:spcPts val="0"/>
              </a:spcBef>
              <a:spcAft>
                <a:spcPts val="0"/>
              </a:spcAft>
              <a:defRPr sz="919" b="0">
                <a:solidFill>
                  <a:srgbClr val="F1F5F9"/>
                </a:solidFill>
                <a:latin typeface="Consolas"/>
              </a:defRPr>
            </a:pPr>
            <a:r>
              <a:rPr sz="1050" dirty="0"/>
              <a:t>├── Conditional Logic &amp; Retry  ← handles schedule conflicts &amp; API limits</a:t>
            </a:r>
          </a:p>
          <a:p>
            <a:pPr>
              <a:spcBef>
                <a:spcPts val="0"/>
              </a:spcBef>
              <a:spcAft>
                <a:spcPts val="0"/>
              </a:spcAft>
              <a:defRPr sz="919" b="0">
                <a:solidFill>
                  <a:srgbClr val="F1F5F9"/>
                </a:solidFill>
                <a:latin typeface="Consolas"/>
              </a:defRPr>
            </a:pPr>
            <a:r>
              <a:rPr sz="1050" dirty="0"/>
              <a:t>└── Approval Gate Node         ← pauses sensitive actions for user check</a:t>
            </a:r>
          </a:p>
          <a:p>
            <a:pPr>
              <a:spcBef>
                <a:spcPts val="0"/>
              </a:spcBef>
              <a:spcAft>
                <a:spcPts val="0"/>
              </a:spcAft>
              <a:defRPr sz="919" b="0">
                <a:solidFill>
                  <a:srgbClr val="94A3B8"/>
                </a:solidFill>
                <a:latin typeface="Consolas"/>
              </a:defRPr>
            </a:pPr>
            <a:r>
              <a:rPr sz="1050" dirty="0"/>
              <a:t>        │</a:t>
            </a:r>
          </a:p>
          <a:p>
            <a:pPr>
              <a:spcBef>
                <a:spcPts val="0"/>
              </a:spcBef>
              <a:spcAft>
                <a:spcPts val="0"/>
              </a:spcAft>
              <a:defRPr sz="919" b="0">
                <a:solidFill>
                  <a:srgbClr val="94A3B8"/>
                </a:solidFill>
                <a:latin typeface="Consolas"/>
              </a:defRPr>
            </a:pPr>
            <a:r>
              <a:rPr sz="1050" dirty="0"/>
              <a:t>   ┌────┴──────────────────────────┬─────────────────────────┐</a:t>
            </a:r>
          </a:p>
          <a:p>
            <a:pPr>
              <a:spcBef>
                <a:spcPts val="0"/>
              </a:spcBef>
              <a:spcAft>
                <a:spcPts val="0"/>
              </a:spcAft>
              <a:defRPr sz="919" b="0">
                <a:solidFill>
                  <a:srgbClr val="94A3B8"/>
                </a:solidFill>
                <a:latin typeface="Consolas"/>
              </a:defRPr>
            </a:pPr>
            <a:r>
              <a:rPr sz="1050" dirty="0"/>
              <a:t>   ▼                               ▼                         ▼</a:t>
            </a:r>
          </a:p>
          <a:p>
            <a:pPr>
              <a:spcBef>
                <a:spcPts val="0"/>
              </a:spcBef>
              <a:spcAft>
                <a:spcPts val="0"/>
              </a:spcAft>
              <a:defRPr sz="919" b="1">
                <a:solidFill>
                  <a:srgbClr val="38BDF8"/>
                </a:solidFill>
                <a:latin typeface="Consolas"/>
              </a:defRPr>
            </a:pPr>
            <a:r>
              <a:rPr sz="1050" dirty="0"/>
              <a:t>MEMORY (PostgreSQL)          EXTERNAL SERVICES         CLIENT FEEDBACK</a:t>
            </a:r>
          </a:p>
          <a:p>
            <a:pPr>
              <a:spcBef>
                <a:spcPts val="0"/>
              </a:spcBef>
              <a:spcAft>
                <a:spcPts val="0"/>
              </a:spcAft>
              <a:defRPr sz="919" b="0">
                <a:solidFill>
                  <a:srgbClr val="F1F5F9"/>
                </a:solidFill>
                <a:latin typeface="Consolas"/>
              </a:defRPr>
            </a:pPr>
            <a:r>
              <a:rPr sz="1050" dirty="0"/>
              <a:t>├── Tasks &amp; Deadlines        ├── Google Calendar API   └── WebSocket Push</a:t>
            </a:r>
          </a:p>
          <a:p>
            <a:pPr>
              <a:spcBef>
                <a:spcPts val="0"/>
              </a:spcBef>
              <a:spcAft>
                <a:spcPts val="0"/>
              </a:spcAft>
              <a:defRPr sz="919" b="0">
                <a:solidFill>
                  <a:srgbClr val="F1F5F9"/>
                </a:solidFill>
                <a:latin typeface="Consolas"/>
              </a:defRPr>
            </a:pPr>
            <a:r>
              <a:rPr sz="1050" dirty="0"/>
              <a:t>├── Habits &amp; Twin State      ├── Gmail / Email API         (Live UI update)</a:t>
            </a:r>
          </a:p>
          <a:p>
            <a:pPr>
              <a:spcBef>
                <a:spcPts val="0"/>
              </a:spcBef>
              <a:spcAft>
                <a:spcPts val="0"/>
              </a:spcAft>
              <a:defRPr sz="919" b="0">
                <a:solidFill>
                  <a:srgbClr val="F1F5F9"/>
                </a:solidFill>
                <a:latin typeface="Consolas"/>
              </a:defRPr>
            </a:pPr>
            <a:r>
              <a:rPr sz="1050" dirty="0"/>
              <a:t>└── Workflow Audit Trail     └── </a:t>
            </a:r>
            <a:r>
              <a:rPr sz="1050" dirty="0" err="1"/>
              <a:t>Todoist</a:t>
            </a:r>
            <a:r>
              <a:rPr sz="1050" dirty="0"/>
              <a:t> / REST APIs</a:t>
            </a:r>
          </a:p>
        </p:txBody>
      </p:sp>
      <p:sp>
        <p:nvSpPr>
          <p:cNvPr id="12" name="Rounded Rectangle 11"/>
          <p:cNvSpPr/>
          <p:nvPr/>
        </p:nvSpPr>
        <p:spPr>
          <a:xfrm>
            <a:off x="8321040" y="1508760"/>
            <a:ext cx="3410712" cy="1124712"/>
          </a:xfrm>
          <a:prstGeom prst="roundRect">
            <a:avLst/>
          </a:prstGeom>
          <a:solidFill>
            <a:srgbClr val="E0F2FE"/>
          </a:solidFill>
          <a:ln w="16510">
            <a:solidFill>
              <a:srgbClr val="0369A1"/>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defRPr sz="1300" b="1">
                <a:solidFill>
                  <a:srgbClr val="0369A1"/>
                </a:solidFill>
                <a:latin typeface="Segoe UI"/>
              </a:defRPr>
            </a:pPr>
            <a:r>
              <a:t>AI = BRAIN</a:t>
            </a:r>
          </a:p>
          <a:p>
            <a:pPr>
              <a:defRPr sz="1150" b="1">
                <a:solidFill>
                  <a:srgbClr val="0F172A"/>
                </a:solidFill>
                <a:latin typeface="Segoe UI"/>
              </a:defRPr>
            </a:pPr>
            <a:r>
              <a:t>LLM Reasoning Engine</a:t>
            </a:r>
          </a:p>
          <a:p>
            <a:pPr>
              <a:spcBef>
                <a:spcPts val="200"/>
              </a:spcBef>
              <a:defRPr sz="1000">
                <a:solidFill>
                  <a:srgbClr val="475569"/>
                </a:solidFill>
                <a:latin typeface="Segoe UI"/>
              </a:defRPr>
            </a:pPr>
            <a:r>
              <a:t>Intent understanding, multi-step planning, entity extraction, and function calling.</a:t>
            </a:r>
          </a:p>
        </p:txBody>
      </p:sp>
      <p:sp>
        <p:nvSpPr>
          <p:cNvPr id="13" name="Rounded Rectangle 12"/>
          <p:cNvSpPr/>
          <p:nvPr/>
        </p:nvSpPr>
        <p:spPr>
          <a:xfrm>
            <a:off x="8321040" y="2761488"/>
            <a:ext cx="3410712" cy="1124712"/>
          </a:xfrm>
          <a:prstGeom prst="roundRect">
            <a:avLst/>
          </a:prstGeom>
          <a:solidFill>
            <a:srgbClr val="FEF3C7"/>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defRPr sz="1300" b="1">
                <a:solidFill>
                  <a:srgbClr val="B45309"/>
                </a:solidFill>
                <a:latin typeface="Segoe UI"/>
              </a:defRPr>
            </a:pPr>
            <a:r>
              <a:t>n8n = EXECUTION</a:t>
            </a:r>
          </a:p>
          <a:p>
            <a:pPr>
              <a:defRPr sz="1150" b="1">
                <a:solidFill>
                  <a:srgbClr val="0F172A"/>
                </a:solidFill>
                <a:latin typeface="Segoe UI"/>
              </a:defRPr>
            </a:pPr>
            <a:r>
              <a:t>Orchestration Backbone</a:t>
            </a:r>
          </a:p>
          <a:p>
            <a:pPr>
              <a:spcBef>
                <a:spcPts val="200"/>
              </a:spcBef>
              <a:defRPr sz="1000">
                <a:solidFill>
                  <a:srgbClr val="475569"/>
                </a:solidFill>
                <a:latin typeface="Segoe UI"/>
              </a:defRPr>
            </a:pPr>
            <a:r>
              <a:t>Triggers, conditional logic, API calls, error handling, and scheduled workflows.</a:t>
            </a:r>
          </a:p>
        </p:txBody>
      </p:sp>
      <p:sp>
        <p:nvSpPr>
          <p:cNvPr id="14" name="Rounded Rectangle 13"/>
          <p:cNvSpPr/>
          <p:nvPr/>
        </p:nvSpPr>
        <p:spPr>
          <a:xfrm>
            <a:off x="8321040" y="4014216"/>
            <a:ext cx="3410712" cy="1124712"/>
          </a:xfrm>
          <a:prstGeom prst="roundRect">
            <a:avLst/>
          </a:prstGeom>
          <a:solidFill>
            <a:srgbClr val="E6FFFA"/>
          </a:solidFill>
          <a:ln w="16510">
            <a:solidFill>
              <a:srgbClr val="0D9488"/>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defRPr sz="1300" b="1">
                <a:solidFill>
                  <a:srgbClr val="0D9488"/>
                </a:solidFill>
                <a:latin typeface="Segoe UI"/>
              </a:defRPr>
            </a:pPr>
            <a:r>
              <a:t>DB = MEMORY</a:t>
            </a:r>
          </a:p>
          <a:p>
            <a:pPr>
              <a:defRPr sz="1150" b="1">
                <a:solidFill>
                  <a:srgbClr val="0F172A"/>
                </a:solidFill>
                <a:latin typeface="Segoe UI"/>
              </a:defRPr>
            </a:pPr>
            <a:r>
              <a:t>PostgreSQL / Supabase</a:t>
            </a:r>
          </a:p>
          <a:p>
            <a:pPr>
              <a:spcBef>
                <a:spcPts val="200"/>
              </a:spcBef>
              <a:defRPr sz="1000">
                <a:solidFill>
                  <a:srgbClr val="475569"/>
                </a:solidFill>
                <a:latin typeface="Segoe UI"/>
              </a:defRPr>
            </a:pPr>
            <a:r>
              <a:t>Persistent state for tasks, deadlines, routines, schedule twin state, and audit logs.</a:t>
            </a:r>
          </a:p>
        </p:txBody>
      </p:sp>
      <p:sp>
        <p:nvSpPr>
          <p:cNvPr id="15" name="Rounded Rectangle 14"/>
          <p:cNvSpPr/>
          <p:nvPr/>
        </p:nvSpPr>
        <p:spPr>
          <a:xfrm>
            <a:off x="8321040" y="5266944"/>
            <a:ext cx="3410712" cy="1124712"/>
          </a:xfrm>
          <a:prstGeom prst="roundRect">
            <a:avLst/>
          </a:prstGeom>
          <a:solidFill>
            <a:srgbClr val="F1F5F9"/>
          </a:solidFill>
          <a:ln w="16510">
            <a:solidFill>
              <a:srgbClr val="475569"/>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defRPr sz="1300" b="1">
                <a:solidFill>
                  <a:srgbClr val="475569"/>
                </a:solidFill>
                <a:latin typeface="Segoe UI"/>
              </a:defRPr>
            </a:pPr>
            <a:r>
              <a:t>DASHBOARD = INTERFACE</a:t>
            </a:r>
          </a:p>
          <a:p>
            <a:pPr>
              <a:defRPr sz="1150" b="1">
                <a:solidFill>
                  <a:srgbClr val="0F172A"/>
                </a:solidFill>
                <a:latin typeface="Segoe UI"/>
              </a:defRPr>
            </a:pPr>
            <a:r>
              <a:t>Personal Command Center</a:t>
            </a:r>
          </a:p>
          <a:p>
            <a:pPr>
              <a:spcBef>
                <a:spcPts val="200"/>
              </a:spcBef>
              <a:defRPr sz="1000">
                <a:solidFill>
                  <a:srgbClr val="475569"/>
                </a:solidFill>
                <a:latin typeface="Segoe UI"/>
              </a:defRPr>
            </a:pPr>
            <a:r>
              <a:t>Active attention feed, proactive recommendations, text input, and approvals.</a:t>
            </a:r>
          </a:p>
        </p:txBody>
      </p:sp>
      <p:sp>
        <p:nvSpPr>
          <p:cNvPr id="16" name="TextBox 15"/>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2 of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DATA FLOW &amp; EXECUTION CYCLE</a:t>
            </a:r>
          </a:p>
        </p:txBody>
      </p:sp>
      <p:sp>
        <p:nvSpPr>
          <p:cNvPr id="4" name="TextBox 3"/>
          <p:cNvSpPr txBox="1"/>
          <p:nvPr/>
        </p:nvSpPr>
        <p:spPr>
          <a:xfrm>
            <a:off x="457200" y="640080"/>
            <a:ext cx="11274552" cy="777240"/>
          </a:xfrm>
          <a:prstGeom prst="rect">
            <a:avLst/>
          </a:prstGeom>
          <a:noFill/>
        </p:spPr>
        <p:txBody>
          <a:bodyPr wrap="square" lIns="0" tIns="0" rIns="0" bIns="0">
            <a:spAutoFit/>
          </a:bodyPr>
          <a:lstStyle/>
          <a:p>
            <a:pPr>
              <a:defRPr sz="2600" b="1">
                <a:solidFill>
                  <a:srgbClr val="0F172A"/>
                </a:solidFill>
                <a:latin typeface="Segoe UI"/>
              </a:defRPr>
            </a:pPr>
            <a:r>
              <a:t>How OPHELIA Works: Left-to-Right Data Flow</a:t>
            </a:r>
          </a:p>
          <a:p>
            <a:pPr>
              <a:spcBef>
                <a:spcPts val="200"/>
              </a:spcBef>
              <a:defRPr sz="1350">
                <a:solidFill>
                  <a:srgbClr val="475569"/>
                </a:solidFill>
                <a:latin typeface="Segoe UI"/>
              </a:defRPr>
            </a:pPr>
            <a:r>
              <a:t>Decomposing high-level conversational intent into deterministic, multi-service execution</a:t>
            </a:r>
          </a:p>
        </p:txBody>
      </p:sp>
      <p:sp>
        <p:nvSpPr>
          <p:cNvPr id="5" name="Rounded Rectangle 4"/>
          <p:cNvSpPr/>
          <p:nvPr/>
        </p:nvSpPr>
        <p:spPr>
          <a:xfrm>
            <a:off x="457200" y="1508760"/>
            <a:ext cx="2066543" cy="1188720"/>
          </a:xfrm>
          <a:prstGeom prst="roundRect">
            <a:avLst/>
          </a:prstGeom>
          <a:solidFill>
            <a:srgbClr val="F1F5F9"/>
          </a:solidFill>
          <a:ln w="16510">
            <a:solidFill>
              <a:srgbClr val="475569"/>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ctr">
              <a:defRPr sz="1150" b="1">
                <a:solidFill>
                  <a:srgbClr val="475569"/>
                </a:solidFill>
                <a:latin typeface="Segoe UI"/>
              </a:defRPr>
            </a:pPr>
            <a:r>
              <a:t>1. USER COMMAND</a:t>
            </a:r>
          </a:p>
          <a:p>
            <a:pPr>
              <a:spcBef>
                <a:spcPts val="300"/>
              </a:spcBef>
              <a:defRPr sz="1000">
                <a:solidFill>
                  <a:srgbClr val="475569"/>
                </a:solidFill>
                <a:latin typeface="Segoe UI"/>
              </a:defRPr>
            </a:pPr>
            <a:r>
              <a:t>Natural intent input in Command Center UI</a:t>
            </a:r>
          </a:p>
        </p:txBody>
      </p:sp>
      <p:sp>
        <p:nvSpPr>
          <p:cNvPr id="6" name="TextBox 5"/>
          <p:cNvSpPr txBox="1"/>
          <p:nvPr/>
        </p:nvSpPr>
        <p:spPr>
          <a:xfrm>
            <a:off x="2523743" y="1828800"/>
            <a:ext cx="219456" cy="365760"/>
          </a:xfrm>
          <a:prstGeom prst="rect">
            <a:avLst/>
          </a:prstGeom>
          <a:noFill/>
        </p:spPr>
        <p:txBody>
          <a:bodyPr wrap="none" lIns="0" tIns="0" rIns="0" bIns="0">
            <a:spAutoFit/>
          </a:bodyPr>
          <a:lstStyle/>
          <a:p>
            <a:pPr algn="ctr">
              <a:defRPr sz="2000" b="1">
                <a:solidFill>
                  <a:srgbClr val="94A3B8"/>
                </a:solidFill>
                <a:latin typeface="Segoe UI"/>
              </a:defRPr>
            </a:pPr>
            <a:r>
              <a:t>→</a:t>
            </a:r>
          </a:p>
        </p:txBody>
      </p:sp>
      <p:sp>
        <p:nvSpPr>
          <p:cNvPr id="7" name="Rounded Rectangle 6"/>
          <p:cNvSpPr/>
          <p:nvPr/>
        </p:nvSpPr>
        <p:spPr>
          <a:xfrm>
            <a:off x="2743199" y="1508760"/>
            <a:ext cx="2066543" cy="1188720"/>
          </a:xfrm>
          <a:prstGeom prst="roundRect">
            <a:avLst/>
          </a:prstGeom>
          <a:solidFill>
            <a:srgbClr val="E0F2FE"/>
          </a:solidFill>
          <a:ln w="16510">
            <a:solidFill>
              <a:srgbClr val="0369A1"/>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ctr">
              <a:defRPr sz="1150" b="1">
                <a:solidFill>
                  <a:srgbClr val="0369A1"/>
                </a:solidFill>
                <a:latin typeface="Segoe UI"/>
              </a:defRPr>
            </a:pPr>
            <a:r>
              <a:t>2. INTENT &amp; CONTEXT</a:t>
            </a:r>
          </a:p>
          <a:p>
            <a:pPr>
              <a:spcBef>
                <a:spcPts val="300"/>
              </a:spcBef>
              <a:defRPr sz="1000">
                <a:solidFill>
                  <a:srgbClr val="475569"/>
                </a:solidFill>
                <a:latin typeface="Segoe UI"/>
              </a:defRPr>
            </a:pPr>
            <a:r>
              <a:t>LLM parses goals, deadlines &amp; entities</a:t>
            </a:r>
          </a:p>
        </p:txBody>
      </p:sp>
      <p:sp>
        <p:nvSpPr>
          <p:cNvPr id="8" name="TextBox 7"/>
          <p:cNvSpPr txBox="1"/>
          <p:nvPr/>
        </p:nvSpPr>
        <p:spPr>
          <a:xfrm>
            <a:off x="4809742" y="1828800"/>
            <a:ext cx="219456" cy="365760"/>
          </a:xfrm>
          <a:prstGeom prst="rect">
            <a:avLst/>
          </a:prstGeom>
          <a:noFill/>
        </p:spPr>
        <p:txBody>
          <a:bodyPr wrap="none" lIns="0" tIns="0" rIns="0" bIns="0">
            <a:spAutoFit/>
          </a:bodyPr>
          <a:lstStyle/>
          <a:p>
            <a:pPr algn="ctr">
              <a:defRPr sz="2000" b="1">
                <a:solidFill>
                  <a:srgbClr val="94A3B8"/>
                </a:solidFill>
                <a:latin typeface="Segoe UI"/>
              </a:defRPr>
            </a:pPr>
            <a:r>
              <a:t>→</a:t>
            </a:r>
          </a:p>
        </p:txBody>
      </p:sp>
      <p:sp>
        <p:nvSpPr>
          <p:cNvPr id="9" name="Rounded Rectangle 8"/>
          <p:cNvSpPr/>
          <p:nvPr/>
        </p:nvSpPr>
        <p:spPr>
          <a:xfrm>
            <a:off x="5029198" y="1508760"/>
            <a:ext cx="2066543" cy="1188720"/>
          </a:xfrm>
          <a:prstGeom prst="roundRect">
            <a:avLst/>
          </a:prstGeom>
          <a:solidFill>
            <a:srgbClr val="E6FFFA"/>
          </a:solidFill>
          <a:ln w="16510">
            <a:solidFill>
              <a:srgbClr val="0D9488"/>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ctr">
              <a:defRPr sz="1150" b="1">
                <a:solidFill>
                  <a:srgbClr val="0D9488"/>
                </a:solidFill>
                <a:latin typeface="Segoe UI"/>
              </a:defRPr>
            </a:pPr>
            <a:r>
              <a:t>3. REASON &amp; PLAN</a:t>
            </a:r>
          </a:p>
          <a:p>
            <a:pPr>
              <a:spcBef>
                <a:spcPts val="300"/>
              </a:spcBef>
              <a:defRPr sz="1000">
                <a:solidFill>
                  <a:srgbClr val="475569"/>
                </a:solidFill>
                <a:latin typeface="Segoe UI"/>
              </a:defRPr>
            </a:pPr>
            <a:r>
              <a:t>Retrieves DB state; solves time slots</a:t>
            </a:r>
          </a:p>
        </p:txBody>
      </p:sp>
      <p:sp>
        <p:nvSpPr>
          <p:cNvPr id="10" name="TextBox 9"/>
          <p:cNvSpPr txBox="1"/>
          <p:nvPr/>
        </p:nvSpPr>
        <p:spPr>
          <a:xfrm>
            <a:off x="7095741" y="1828800"/>
            <a:ext cx="219456" cy="365760"/>
          </a:xfrm>
          <a:prstGeom prst="rect">
            <a:avLst/>
          </a:prstGeom>
          <a:noFill/>
        </p:spPr>
        <p:txBody>
          <a:bodyPr wrap="none" lIns="0" tIns="0" rIns="0" bIns="0">
            <a:spAutoFit/>
          </a:bodyPr>
          <a:lstStyle/>
          <a:p>
            <a:pPr algn="ctr">
              <a:defRPr sz="2000" b="1">
                <a:solidFill>
                  <a:srgbClr val="94A3B8"/>
                </a:solidFill>
                <a:latin typeface="Segoe UI"/>
              </a:defRPr>
            </a:pPr>
            <a:r>
              <a:t>→</a:t>
            </a:r>
          </a:p>
        </p:txBody>
      </p:sp>
      <p:sp>
        <p:nvSpPr>
          <p:cNvPr id="11" name="Rounded Rectangle 10"/>
          <p:cNvSpPr/>
          <p:nvPr/>
        </p:nvSpPr>
        <p:spPr>
          <a:xfrm>
            <a:off x="7315197" y="1508760"/>
            <a:ext cx="2066543" cy="1188720"/>
          </a:xfrm>
          <a:prstGeom prst="roundRect">
            <a:avLst/>
          </a:prstGeom>
          <a:solidFill>
            <a:srgbClr val="FEF3C7"/>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ctr">
              <a:defRPr sz="1150" b="1">
                <a:solidFill>
                  <a:srgbClr val="B45309"/>
                </a:solidFill>
                <a:latin typeface="Segoe UI"/>
              </a:defRPr>
            </a:pPr>
            <a:r>
              <a:t>4. n8n WORKFLOW</a:t>
            </a:r>
          </a:p>
          <a:p>
            <a:pPr>
              <a:spcBef>
                <a:spcPts val="300"/>
              </a:spcBef>
              <a:defRPr sz="1000">
                <a:solidFill>
                  <a:srgbClr val="475569"/>
                </a:solidFill>
                <a:latin typeface="Segoe UI"/>
              </a:defRPr>
            </a:pPr>
            <a:r>
              <a:t>Executes multi-step APIs across tools</a:t>
            </a:r>
          </a:p>
        </p:txBody>
      </p:sp>
      <p:sp>
        <p:nvSpPr>
          <p:cNvPr id="12" name="TextBox 11"/>
          <p:cNvSpPr txBox="1"/>
          <p:nvPr/>
        </p:nvSpPr>
        <p:spPr>
          <a:xfrm>
            <a:off x="9381740" y="1828800"/>
            <a:ext cx="219456" cy="365760"/>
          </a:xfrm>
          <a:prstGeom prst="rect">
            <a:avLst/>
          </a:prstGeom>
          <a:noFill/>
        </p:spPr>
        <p:txBody>
          <a:bodyPr wrap="none" lIns="0" tIns="0" rIns="0" bIns="0">
            <a:spAutoFit/>
          </a:bodyPr>
          <a:lstStyle/>
          <a:p>
            <a:pPr algn="ctr">
              <a:defRPr sz="2000" b="1">
                <a:solidFill>
                  <a:srgbClr val="94A3B8"/>
                </a:solidFill>
                <a:latin typeface="Segoe UI"/>
              </a:defRPr>
            </a:pPr>
            <a:r>
              <a:t>→</a:t>
            </a:r>
          </a:p>
        </p:txBody>
      </p:sp>
      <p:sp>
        <p:nvSpPr>
          <p:cNvPr id="13" name="Rounded Rectangle 12"/>
          <p:cNvSpPr/>
          <p:nvPr/>
        </p:nvSpPr>
        <p:spPr>
          <a:xfrm>
            <a:off x="9601196" y="1508760"/>
            <a:ext cx="2066543" cy="1188720"/>
          </a:xfrm>
          <a:prstGeom prst="roundRect">
            <a:avLst/>
          </a:prstGeom>
          <a:solidFill>
            <a:srgbClr val="ECFDF5"/>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ctr">
              <a:defRPr sz="1150" b="1">
                <a:solidFill>
                  <a:srgbClr val="10B981"/>
                </a:solidFill>
                <a:latin typeface="Segoe UI"/>
              </a:defRPr>
            </a:pPr>
            <a:r>
              <a:t>5. STATE &amp; DASHBOARD</a:t>
            </a:r>
          </a:p>
          <a:p>
            <a:pPr>
              <a:spcBef>
                <a:spcPts val="300"/>
              </a:spcBef>
              <a:defRPr sz="1000">
                <a:solidFill>
                  <a:srgbClr val="475569"/>
                </a:solidFill>
                <a:latin typeface="Segoe UI"/>
              </a:defRPr>
            </a:pPr>
            <a:r>
              <a:t>Updates memory &amp; shows live result</a:t>
            </a:r>
          </a:p>
        </p:txBody>
      </p:sp>
      <p:sp>
        <p:nvSpPr>
          <p:cNvPr id="14" name="Rounded Rectangle 13"/>
          <p:cNvSpPr/>
          <p:nvPr/>
        </p:nvSpPr>
        <p:spPr>
          <a:xfrm>
            <a:off x="457200" y="2834640"/>
            <a:ext cx="11274552" cy="35661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85800" y="2971800"/>
            <a:ext cx="10817352" cy="64008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200" b="1">
                <a:solidFill>
                  <a:srgbClr val="0284C7"/>
                </a:solidFill>
                <a:latin typeface="Segoe UI"/>
              </a:defRPr>
            </a:pPr>
            <a:r>
              <a:t>REAL-WORLD USER COMMAND: "I have two assignments due Wednesday and an exam on Friday. Organize my week around my existing schedule."</a:t>
            </a:r>
          </a:p>
        </p:txBody>
      </p:sp>
      <p:sp>
        <p:nvSpPr>
          <p:cNvPr id="16" name="Rounded Rectangle 15"/>
          <p:cNvSpPr/>
          <p:nvPr/>
        </p:nvSpPr>
        <p:spPr>
          <a:xfrm>
            <a:off x="685800" y="3749039"/>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1: Identify Deadlines</a:t>
            </a:r>
          </a:p>
          <a:p>
            <a:pPr>
              <a:spcBef>
                <a:spcPts val="200"/>
              </a:spcBef>
              <a:defRPr sz="950">
                <a:solidFill>
                  <a:srgbClr val="475569"/>
                </a:solidFill>
                <a:latin typeface="Segoe UI"/>
              </a:defRPr>
            </a:pPr>
            <a:r>
              <a:t>LLM extracts Wed 11:59 PM (x2) and Fri 09:00 AM exam from prompt.</a:t>
            </a:r>
          </a:p>
        </p:txBody>
      </p:sp>
      <p:sp>
        <p:nvSpPr>
          <p:cNvPr id="17" name="Rounded Rectangle 16"/>
          <p:cNvSpPr/>
          <p:nvPr/>
        </p:nvSpPr>
        <p:spPr>
          <a:xfrm>
            <a:off x="685800" y="4590287"/>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2: Determine Priorities</a:t>
            </a:r>
          </a:p>
          <a:p>
            <a:pPr>
              <a:spcBef>
                <a:spcPts val="200"/>
              </a:spcBef>
              <a:defRPr sz="950">
                <a:solidFill>
                  <a:srgbClr val="475569"/>
                </a:solidFill>
                <a:latin typeface="Segoe UI"/>
              </a:defRPr>
            </a:pPr>
            <a:r>
              <a:t>Assigns highest weight to Exam prep, followed by Assignment #1 and #2.</a:t>
            </a:r>
          </a:p>
        </p:txBody>
      </p:sp>
      <p:sp>
        <p:nvSpPr>
          <p:cNvPr id="18" name="Rounded Rectangle 17"/>
          <p:cNvSpPr/>
          <p:nvPr/>
        </p:nvSpPr>
        <p:spPr>
          <a:xfrm>
            <a:off x="685800" y="5431535"/>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3: Check Existing Schedule</a:t>
            </a:r>
          </a:p>
          <a:p>
            <a:pPr>
              <a:spcBef>
                <a:spcPts val="200"/>
              </a:spcBef>
              <a:defRPr sz="950">
                <a:solidFill>
                  <a:srgbClr val="475569"/>
                </a:solidFill>
                <a:latin typeface="Segoe UI"/>
              </a:defRPr>
            </a:pPr>
            <a:r>
              <a:t>Queries Google Calendar via n8n for classes, meetings, and obligations.</a:t>
            </a:r>
          </a:p>
        </p:txBody>
      </p:sp>
      <p:sp>
        <p:nvSpPr>
          <p:cNvPr id="19" name="Rounded Rectangle 18"/>
          <p:cNvSpPr/>
          <p:nvPr/>
        </p:nvSpPr>
        <p:spPr>
          <a:xfrm>
            <a:off x="4361688" y="3749039"/>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4: Find Available Time</a:t>
            </a:r>
          </a:p>
          <a:p>
            <a:pPr>
              <a:spcBef>
                <a:spcPts val="200"/>
              </a:spcBef>
              <a:defRPr sz="950">
                <a:solidFill>
                  <a:srgbClr val="475569"/>
                </a:solidFill>
                <a:latin typeface="Segoe UI"/>
              </a:defRPr>
            </a:pPr>
            <a:r>
              <a:t>Identifies non-conflicting deep-work windows across Monday to Thursday.</a:t>
            </a:r>
          </a:p>
        </p:txBody>
      </p:sp>
      <p:sp>
        <p:nvSpPr>
          <p:cNvPr id="20" name="Rounded Rectangle 19"/>
          <p:cNvSpPr/>
          <p:nvPr/>
        </p:nvSpPr>
        <p:spPr>
          <a:xfrm>
            <a:off x="4361688" y="4590287"/>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5: Generate Proposed Plan</a:t>
            </a:r>
          </a:p>
          <a:p>
            <a:pPr>
              <a:spcBef>
                <a:spcPts val="200"/>
              </a:spcBef>
              <a:defRPr sz="950">
                <a:solidFill>
                  <a:srgbClr val="475569"/>
                </a:solidFill>
                <a:latin typeface="Segoe UI"/>
              </a:defRPr>
            </a:pPr>
            <a:r>
              <a:t>Calculates optimal 90-min study blocks, rest breaks, and milestone targets.</a:t>
            </a:r>
          </a:p>
        </p:txBody>
      </p:sp>
      <p:sp>
        <p:nvSpPr>
          <p:cNvPr id="21" name="Rounded Rectangle 20"/>
          <p:cNvSpPr/>
          <p:nvPr/>
        </p:nvSpPr>
        <p:spPr>
          <a:xfrm>
            <a:off x="4361688" y="5431535"/>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6: Execute via n8n</a:t>
            </a:r>
          </a:p>
          <a:p>
            <a:pPr>
              <a:spcBef>
                <a:spcPts val="200"/>
              </a:spcBef>
              <a:defRPr sz="950">
                <a:solidFill>
                  <a:srgbClr val="475569"/>
                </a:solidFill>
                <a:latin typeface="Segoe UI"/>
              </a:defRPr>
            </a:pPr>
            <a:r>
              <a:t>Triggers n8n workflow to create Google Calendar events &amp; task items.</a:t>
            </a:r>
          </a:p>
        </p:txBody>
      </p:sp>
      <p:sp>
        <p:nvSpPr>
          <p:cNvPr id="22" name="Rounded Rectangle 21"/>
          <p:cNvSpPr/>
          <p:nvPr/>
        </p:nvSpPr>
        <p:spPr>
          <a:xfrm>
            <a:off x="8037576" y="3749039"/>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7: Add Proactive Reminders</a:t>
            </a:r>
          </a:p>
          <a:p>
            <a:pPr>
              <a:spcBef>
                <a:spcPts val="200"/>
              </a:spcBef>
              <a:defRPr sz="950">
                <a:solidFill>
                  <a:srgbClr val="475569"/>
                </a:solidFill>
                <a:latin typeface="Segoe UI"/>
              </a:defRPr>
            </a:pPr>
            <a:r>
              <a:t>Schedules reminder webhooks 24 hours and 4 hours prior to each deadline.</a:t>
            </a:r>
          </a:p>
        </p:txBody>
      </p:sp>
      <p:sp>
        <p:nvSpPr>
          <p:cNvPr id="23" name="Rounded Rectangle 22"/>
          <p:cNvSpPr/>
          <p:nvPr/>
        </p:nvSpPr>
        <p:spPr>
          <a:xfrm>
            <a:off x="8037576" y="4590287"/>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8: Update Memory / DB</a:t>
            </a:r>
          </a:p>
          <a:p>
            <a:pPr>
              <a:spcBef>
                <a:spcPts val="200"/>
              </a:spcBef>
              <a:defRPr sz="950">
                <a:solidFill>
                  <a:srgbClr val="475569"/>
                </a:solidFill>
                <a:latin typeface="Segoe UI"/>
              </a:defRPr>
            </a:pPr>
            <a:r>
              <a:t>Commits new calendar event IDs and schedule state to PostgreSQL.</a:t>
            </a:r>
          </a:p>
        </p:txBody>
      </p:sp>
      <p:sp>
        <p:nvSpPr>
          <p:cNvPr id="24" name="Rounded Rectangle 23"/>
          <p:cNvSpPr/>
          <p:nvPr/>
        </p:nvSpPr>
        <p:spPr>
          <a:xfrm>
            <a:off x="8037576" y="5431535"/>
            <a:ext cx="3456432"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28016" tIns="73152" rIns="128016" rtlCol="0" anchor="ctr"/>
          <a:lstStyle/>
          <a:p>
            <a:pPr algn="ctr">
              <a:defRPr sz="1100" b="1">
                <a:solidFill>
                  <a:srgbClr val="0F172A"/>
                </a:solidFill>
                <a:latin typeface="Segoe UI"/>
              </a:defRPr>
            </a:pPr>
            <a:r>
              <a:t>Step 9: Dashboard Instant Sync</a:t>
            </a:r>
          </a:p>
          <a:p>
            <a:pPr>
              <a:spcBef>
                <a:spcPts val="200"/>
              </a:spcBef>
              <a:defRPr sz="950">
                <a:solidFill>
                  <a:srgbClr val="475569"/>
                </a:solidFill>
                <a:latin typeface="Segoe UI"/>
              </a:defRPr>
            </a:pPr>
            <a:r>
              <a:t>Refreshes AI Command Center with completed schedule &amp; proactive alert card.</a:t>
            </a:r>
          </a:p>
        </p:txBody>
      </p:sp>
      <p:sp>
        <p:nvSpPr>
          <p:cNvPr id="25" name="TextBox 24"/>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3 of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CORE DIFFERENTIATOR</a:t>
            </a:r>
          </a:p>
        </p:txBody>
      </p:sp>
      <p:sp>
        <p:nvSpPr>
          <p:cNvPr id="4" name="TextBox 3"/>
          <p:cNvSpPr txBox="1"/>
          <p:nvPr/>
        </p:nvSpPr>
        <p:spPr>
          <a:xfrm>
            <a:off x="457200" y="640080"/>
            <a:ext cx="11274552" cy="777240"/>
          </a:xfrm>
          <a:prstGeom prst="rect">
            <a:avLst/>
          </a:prstGeom>
          <a:noFill/>
        </p:spPr>
        <p:txBody>
          <a:bodyPr wrap="square" lIns="0" tIns="0" rIns="0" bIns="0">
            <a:spAutoFit/>
          </a:bodyPr>
          <a:lstStyle/>
          <a:p>
            <a:pPr>
              <a:defRPr sz="2600" b="1">
                <a:solidFill>
                  <a:srgbClr val="0F172A"/>
                </a:solidFill>
                <a:latin typeface="Segoe UI"/>
              </a:defRPr>
            </a:pPr>
            <a:r>
              <a:t>One Command. Multiple Actions.</a:t>
            </a:r>
          </a:p>
          <a:p>
            <a:pPr>
              <a:spcBef>
                <a:spcPts val="200"/>
              </a:spcBef>
              <a:defRPr sz="1350">
                <a:solidFill>
                  <a:srgbClr val="475569"/>
                </a:solidFill>
                <a:latin typeface="Segoe UI"/>
              </a:defRPr>
            </a:pPr>
            <a:r>
              <a:t>Moving from passive conversational advice to verified multi-service execution</a:t>
            </a:r>
          </a:p>
        </p:txBody>
      </p:sp>
      <p:sp>
        <p:nvSpPr>
          <p:cNvPr id="5" name="Rounded Rectangle 4"/>
          <p:cNvSpPr/>
          <p:nvPr/>
        </p:nvSpPr>
        <p:spPr>
          <a:xfrm>
            <a:off x="457200" y="1508760"/>
            <a:ext cx="11274552" cy="86868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201168" tIns="109728" rtlCol="0" anchor="ctr"/>
          <a:lstStyle/>
          <a:p>
            <a:pPr algn="ctr">
              <a:defRPr sz="1050" b="1">
                <a:solidFill>
                  <a:srgbClr val="0284C7"/>
                </a:solidFill>
                <a:latin typeface="Segoe UI"/>
              </a:defRPr>
            </a:pPr>
            <a:r>
              <a:t>USER INPUT TO COMMAND CENTER:</a:t>
            </a:r>
          </a:p>
          <a:p>
            <a:pPr>
              <a:defRPr sz="1500" b="1">
                <a:solidFill>
                  <a:srgbClr val="0F172A"/>
                </a:solidFill>
                <a:latin typeface="Segoe UI"/>
              </a:defRPr>
            </a:pPr>
            <a:r>
              <a:t>“I have an exam Friday and two assignments due Wednesday. Organize my week around my existing schedule.”</a:t>
            </a:r>
          </a:p>
        </p:txBody>
      </p:sp>
      <p:sp>
        <p:nvSpPr>
          <p:cNvPr id="6" name="Rounded Rectangle 5"/>
          <p:cNvSpPr/>
          <p:nvPr/>
        </p:nvSpPr>
        <p:spPr>
          <a:xfrm>
            <a:off x="457200" y="2514600"/>
            <a:ext cx="3584448" cy="2606040"/>
          </a:xfrm>
          <a:prstGeom prst="roundRect">
            <a:avLst/>
          </a:prstGeom>
          <a:solidFill>
            <a:srgbClr val="E0F2FE"/>
          </a:solidFill>
          <a:ln w="16510">
            <a:solidFill>
              <a:srgbClr val="0369A1"/>
            </a:solidFill>
          </a:ln>
        </p:spPr>
        <p:style>
          <a:lnRef idx="1">
            <a:schemeClr val="accent1"/>
          </a:lnRef>
          <a:fillRef idx="3">
            <a:schemeClr val="accent1"/>
          </a:fillRef>
          <a:effectRef idx="2">
            <a:schemeClr val="accent1"/>
          </a:effectRef>
          <a:fontRef idx="minor">
            <a:schemeClr val="lt1"/>
          </a:fontRef>
        </p:style>
        <p:txBody>
          <a:bodyPr wrap="square" lIns="164592" tIns="146304" rIns="164592" rtlCol="0" anchor="ctr"/>
          <a:lstStyle/>
          <a:p>
            <a:pPr algn="ctr">
              <a:defRPr sz="1350" b="1">
                <a:solidFill>
                  <a:srgbClr val="0369A1"/>
                </a:solidFill>
                <a:latin typeface="Segoe UI"/>
              </a:defRPr>
            </a:pPr>
            <a:r>
              <a:t>1. OPHELIA UNDERSTANDS</a:t>
            </a:r>
          </a:p>
          <a:p>
            <a:pPr>
              <a:spcBef>
                <a:spcPts val="400"/>
              </a:spcBef>
              <a:defRPr sz="1050" b="1">
                <a:solidFill>
                  <a:srgbClr val="0F172A"/>
                </a:solidFill>
                <a:latin typeface="Segoe UI"/>
              </a:defRPr>
            </a:pPr>
            <a:r>
              <a:t>• Deadlines Extracted: </a:t>
            </a:r>
            <a:r>
              <a:rPr b="0">
                <a:solidFill>
                  <a:srgbClr val="475569"/>
                </a:solidFill>
              </a:rPr>
              <a:t>Wednesday 11:59 PM (2 items) &amp; Friday 9:00 AM exam</a:t>
            </a:r>
          </a:p>
          <a:p>
            <a:pPr>
              <a:spcBef>
                <a:spcPts val="400"/>
              </a:spcBef>
              <a:defRPr sz="1050" b="1">
                <a:solidFill>
                  <a:srgbClr val="0F172A"/>
                </a:solidFill>
                <a:latin typeface="Segoe UI"/>
              </a:defRPr>
            </a:pPr>
            <a:r>
              <a:t>• Priority Hierarchy: </a:t>
            </a:r>
            <a:r>
              <a:rPr b="0">
                <a:solidFill>
                  <a:srgbClr val="475569"/>
                </a:solidFill>
              </a:rPr>
              <a:t>Exam preparation rated Critical; Assignments rated High</a:t>
            </a:r>
          </a:p>
          <a:p>
            <a:pPr>
              <a:spcBef>
                <a:spcPts val="400"/>
              </a:spcBef>
              <a:defRPr sz="1050" b="1">
                <a:solidFill>
                  <a:srgbClr val="0F172A"/>
                </a:solidFill>
                <a:latin typeface="Segoe UI"/>
              </a:defRPr>
            </a:pPr>
            <a:r>
              <a:t>• Existing Commitments: </a:t>
            </a:r>
            <a:r>
              <a:rPr b="0">
                <a:solidFill>
                  <a:srgbClr val="475569"/>
                </a:solidFill>
              </a:rPr>
              <a:t>Scans Google Calendar for 14h of existing lectures &amp; syncs</a:t>
            </a:r>
          </a:p>
          <a:p>
            <a:pPr>
              <a:spcBef>
                <a:spcPts val="400"/>
              </a:spcBef>
              <a:defRPr sz="1050" b="1">
                <a:solidFill>
                  <a:srgbClr val="0F172A"/>
                </a:solidFill>
                <a:latin typeface="Segoe UI"/>
              </a:defRPr>
            </a:pPr>
            <a:r>
              <a:t>• Available Free Slots: </a:t>
            </a:r>
            <a:r>
              <a:rPr b="0">
                <a:solidFill>
                  <a:srgbClr val="475569"/>
                </a:solidFill>
              </a:rPr>
              <a:t>Pinpoints open 2-hour blocks across Tue/Wed/Thu</a:t>
            </a:r>
          </a:p>
        </p:txBody>
      </p:sp>
      <p:sp>
        <p:nvSpPr>
          <p:cNvPr id="7" name="Rounded Rectangle 6"/>
          <p:cNvSpPr/>
          <p:nvPr/>
        </p:nvSpPr>
        <p:spPr>
          <a:xfrm>
            <a:off x="4297680" y="2514600"/>
            <a:ext cx="3584448" cy="2606040"/>
          </a:xfrm>
          <a:prstGeom prst="roundRect">
            <a:avLst/>
          </a:prstGeom>
          <a:solidFill>
            <a:srgbClr val="E6FFFA"/>
          </a:solidFill>
          <a:ln w="16510">
            <a:solidFill>
              <a:srgbClr val="0D9488"/>
            </a:solidFill>
          </a:ln>
        </p:spPr>
        <p:style>
          <a:lnRef idx="1">
            <a:schemeClr val="accent1"/>
          </a:lnRef>
          <a:fillRef idx="3">
            <a:schemeClr val="accent1"/>
          </a:fillRef>
          <a:effectRef idx="2">
            <a:schemeClr val="accent1"/>
          </a:effectRef>
          <a:fontRef idx="minor">
            <a:schemeClr val="lt1"/>
          </a:fontRef>
        </p:style>
        <p:txBody>
          <a:bodyPr wrap="square" lIns="164592" tIns="146304" rIns="164592" rtlCol="0" anchor="ctr"/>
          <a:lstStyle/>
          <a:p>
            <a:pPr algn="ctr">
              <a:defRPr sz="1350" b="1">
                <a:solidFill>
                  <a:srgbClr val="0D9488"/>
                </a:solidFill>
                <a:latin typeface="Segoe UI"/>
              </a:defRPr>
            </a:pPr>
            <a:r>
              <a:t>2. OPHELIA PLANS</a:t>
            </a:r>
          </a:p>
          <a:p>
            <a:pPr>
              <a:spcBef>
                <a:spcPts val="400"/>
              </a:spcBef>
              <a:defRPr sz="1050" b="1">
                <a:solidFill>
                  <a:srgbClr val="0F172A"/>
                </a:solidFill>
                <a:latin typeface="Segoe UI"/>
              </a:defRPr>
            </a:pPr>
            <a:r>
              <a:t>• Spaced Study Blocks: </a:t>
            </a:r>
            <a:r>
              <a:rPr b="0">
                <a:solidFill>
                  <a:srgbClr val="475569"/>
                </a:solidFill>
              </a:rPr>
              <a:t>Allocates 4x 90-min focused blocks for Friday exam prep</a:t>
            </a:r>
          </a:p>
          <a:p>
            <a:pPr>
              <a:spcBef>
                <a:spcPts val="400"/>
              </a:spcBef>
              <a:defRPr sz="1050" b="1">
                <a:solidFill>
                  <a:srgbClr val="0F172A"/>
                </a:solidFill>
                <a:latin typeface="Segoe UI"/>
              </a:defRPr>
            </a:pPr>
            <a:r>
              <a:t>• Assignment Sprints: </a:t>
            </a:r>
            <a:r>
              <a:rPr b="0">
                <a:solidFill>
                  <a:srgbClr val="475569"/>
                </a:solidFill>
              </a:rPr>
              <a:t>Allocates 2x 2-hour blocks before Wednesday deadline</a:t>
            </a:r>
          </a:p>
          <a:p>
            <a:pPr>
              <a:spcBef>
                <a:spcPts val="400"/>
              </a:spcBef>
              <a:defRPr sz="1050" b="1">
                <a:solidFill>
                  <a:srgbClr val="0F172A"/>
                </a:solidFill>
                <a:latin typeface="Segoe UI"/>
              </a:defRPr>
            </a:pPr>
            <a:r>
              <a:t>• Rest &amp; Buffer Breaks: </a:t>
            </a:r>
            <a:r>
              <a:rPr b="0">
                <a:solidFill>
                  <a:srgbClr val="475569"/>
                </a:solidFill>
              </a:rPr>
              <a:t>Automatically reserves 30-min buffer between deep work</a:t>
            </a:r>
          </a:p>
          <a:p>
            <a:pPr>
              <a:spcBef>
                <a:spcPts val="400"/>
              </a:spcBef>
              <a:defRPr sz="1050" b="1">
                <a:solidFill>
                  <a:srgbClr val="0F172A"/>
                </a:solidFill>
                <a:latin typeface="Segoe UI"/>
              </a:defRPr>
            </a:pPr>
            <a:r>
              <a:t>• Proactive Reminders: </a:t>
            </a:r>
            <a:r>
              <a:rPr b="0">
                <a:solidFill>
                  <a:srgbClr val="475569"/>
                </a:solidFill>
              </a:rPr>
              <a:t>Calculates alert triggers 24h &amp; 4h before submission</a:t>
            </a:r>
          </a:p>
        </p:txBody>
      </p:sp>
      <p:sp>
        <p:nvSpPr>
          <p:cNvPr id="8" name="Rounded Rectangle 7"/>
          <p:cNvSpPr/>
          <p:nvPr/>
        </p:nvSpPr>
        <p:spPr>
          <a:xfrm>
            <a:off x="8138160" y="2514600"/>
            <a:ext cx="3584448" cy="2606040"/>
          </a:xfrm>
          <a:prstGeom prst="roundRect">
            <a:avLst/>
          </a:prstGeom>
          <a:solidFill>
            <a:srgbClr val="FEF3C7"/>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wrap="square" lIns="164592" tIns="146304" rIns="164592" rtlCol="0" anchor="ctr"/>
          <a:lstStyle/>
          <a:p>
            <a:pPr algn="ctr">
              <a:defRPr sz="1350" b="1">
                <a:solidFill>
                  <a:srgbClr val="B45309"/>
                </a:solidFill>
                <a:latin typeface="Segoe UI"/>
              </a:defRPr>
            </a:pPr>
            <a:r>
              <a:t>3. n8n EXECUTES</a:t>
            </a:r>
          </a:p>
          <a:p>
            <a:pPr>
              <a:spcBef>
                <a:spcPts val="400"/>
              </a:spcBef>
              <a:defRPr sz="1050" b="1">
                <a:solidFill>
                  <a:srgbClr val="0F172A"/>
                </a:solidFill>
                <a:latin typeface="Segoe UI"/>
              </a:defRPr>
            </a:pPr>
            <a:r>
              <a:t>• Calendar Events Created: </a:t>
            </a:r>
            <a:r>
              <a:rPr b="0">
                <a:solidFill>
                  <a:srgbClr val="475569"/>
                </a:solidFill>
              </a:rPr>
              <a:t>6 calendar blocks pushed directly to Google Calendar</a:t>
            </a:r>
          </a:p>
          <a:p>
            <a:pPr>
              <a:spcBef>
                <a:spcPts val="400"/>
              </a:spcBef>
              <a:defRPr sz="1050" b="1">
                <a:solidFill>
                  <a:srgbClr val="0F172A"/>
                </a:solidFill>
                <a:latin typeface="Segoe UI"/>
              </a:defRPr>
            </a:pPr>
            <a:r>
              <a:t>• Task Registry Built: </a:t>
            </a:r>
            <a:r>
              <a:rPr b="0">
                <a:solidFill>
                  <a:srgbClr val="475569"/>
                </a:solidFill>
              </a:rPr>
              <a:t>Creates 5 milestone items in Todoist / Notion database</a:t>
            </a:r>
          </a:p>
          <a:p>
            <a:pPr>
              <a:spcBef>
                <a:spcPts val="400"/>
              </a:spcBef>
              <a:defRPr sz="1050" b="1">
                <a:solidFill>
                  <a:srgbClr val="0F172A"/>
                </a:solidFill>
                <a:latin typeface="Segoe UI"/>
              </a:defRPr>
            </a:pPr>
            <a:r>
              <a:t>• Alerts Scheduled: </a:t>
            </a:r>
            <a:r>
              <a:rPr b="0">
                <a:solidFill>
                  <a:srgbClr val="475569"/>
                </a:solidFill>
              </a:rPr>
              <a:t>Triggers timed notification webhooks for upcoming deadlines</a:t>
            </a:r>
          </a:p>
          <a:p>
            <a:pPr>
              <a:spcBef>
                <a:spcPts val="400"/>
              </a:spcBef>
              <a:defRPr sz="1050" b="1">
                <a:solidFill>
                  <a:srgbClr val="0F172A"/>
                </a:solidFill>
                <a:latin typeface="Segoe UI"/>
              </a:defRPr>
            </a:pPr>
            <a:r>
              <a:t>• Audit State Logged: </a:t>
            </a:r>
            <a:r>
              <a:rPr b="0">
                <a:solidFill>
                  <a:srgbClr val="475569"/>
                </a:solidFill>
              </a:rPr>
              <a:t>Updates PostgreSQL twin state and notifies Command Center</a:t>
            </a:r>
          </a:p>
        </p:txBody>
      </p:sp>
      <p:sp>
        <p:nvSpPr>
          <p:cNvPr id="9" name="Rounded Rectangle 8"/>
          <p:cNvSpPr/>
          <p:nvPr/>
        </p:nvSpPr>
        <p:spPr>
          <a:xfrm>
            <a:off x="457200" y="5257800"/>
            <a:ext cx="11274552" cy="1143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201168" tIns="109728" rtlCol="0" anchor="ctr"/>
          <a:lstStyle/>
          <a:p>
            <a:pPr algn="ctr">
              <a:defRPr sz="1100" b="1">
                <a:solidFill>
                  <a:srgbClr val="0F172A"/>
                </a:solidFill>
                <a:latin typeface="Segoe UI"/>
              </a:defRPr>
            </a:pPr>
            <a:r>
              <a:t>WHY THIS FUNDAMENTALLY SURPASSES STANDARD CHATBOTS:</a:t>
            </a:r>
          </a:p>
          <a:p>
            <a:pPr>
              <a:spcBef>
                <a:spcPts val="200"/>
              </a:spcBef>
              <a:defRPr sz="1050" b="1">
                <a:solidFill>
                  <a:srgbClr val="DC2626"/>
                </a:solidFill>
                <a:latin typeface="Segoe UI"/>
              </a:defRPr>
            </a:pPr>
            <a:r>
              <a:t>✖  Standard Chatbot: </a:t>
            </a:r>
            <a:r>
              <a:rPr b="0">
                <a:solidFill>
                  <a:srgbClr val="475569"/>
                </a:solidFill>
              </a:rPr>
              <a:t>Outputs a static wall of text advice ('Here is a suggested schedule... you should open Google Calendar and add these'). The user still spends 20+ minutes doing manual work.</a:t>
            </a:r>
          </a:p>
          <a:p>
            <a:pPr>
              <a:spcBef>
                <a:spcPts val="200"/>
              </a:spcBef>
              <a:defRPr sz="1050" b="1">
                <a:solidFill>
                  <a:srgbClr val="10B981"/>
                </a:solidFill>
                <a:latin typeface="Segoe UI"/>
              </a:defRPr>
            </a:pPr>
            <a:r>
              <a:t>✔  OPHELIA Command Center: </a:t>
            </a:r>
            <a:r>
              <a:rPr b="0">
                <a:solidFill>
                  <a:srgbClr val="475569"/>
                </a:solidFill>
              </a:rPr>
              <a:t>Understands, reasons, and actively dispatches real API calls via n8n. In under 2 seconds, events are scheduled, tasks created, and reminders set. It’s already handled.</a:t>
            </a:r>
          </a:p>
        </p:txBody>
      </p:sp>
      <p:sp>
        <p:nvSpPr>
          <p:cNvPr id="10" name="TextBox 9"/>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4 of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19664"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PROACTIVE INTELLIGENCE</a:t>
            </a:r>
          </a:p>
        </p:txBody>
      </p:sp>
      <p:sp>
        <p:nvSpPr>
          <p:cNvPr id="4" name="TextBox 3"/>
          <p:cNvSpPr txBox="1"/>
          <p:nvPr/>
        </p:nvSpPr>
        <p:spPr>
          <a:xfrm>
            <a:off x="457200" y="640080"/>
            <a:ext cx="11274552" cy="777240"/>
          </a:xfrm>
          <a:prstGeom prst="rect">
            <a:avLst/>
          </a:prstGeom>
          <a:noFill/>
        </p:spPr>
        <p:txBody>
          <a:bodyPr wrap="square" lIns="0" tIns="0" rIns="0" bIns="0">
            <a:spAutoFit/>
          </a:bodyPr>
          <a:lstStyle/>
          <a:p>
            <a:pPr>
              <a:defRPr sz="2600" b="1">
                <a:solidFill>
                  <a:srgbClr val="0F172A"/>
                </a:solidFill>
                <a:latin typeface="Segoe UI"/>
              </a:defRPr>
            </a:pPr>
            <a:r>
              <a:t>OPHELIA Doesn't Always Wait to Be Asked</a:t>
            </a:r>
          </a:p>
          <a:p>
            <a:pPr>
              <a:spcBef>
                <a:spcPts val="200"/>
              </a:spcBef>
              <a:defRPr sz="1350">
                <a:solidFill>
                  <a:srgbClr val="475569"/>
                </a:solidFill>
                <a:latin typeface="Segoe UI"/>
              </a:defRPr>
            </a:pPr>
            <a:r>
              <a:t>Continuous background monitoring surfaces critical interventions before problems escalate</a:t>
            </a:r>
          </a:p>
        </p:txBody>
      </p:sp>
      <p:sp>
        <p:nvSpPr>
          <p:cNvPr id="5" name="Rounded Rectangle 4"/>
          <p:cNvSpPr/>
          <p:nvPr/>
        </p:nvSpPr>
        <p:spPr>
          <a:xfrm>
            <a:off x="457200" y="1508760"/>
            <a:ext cx="54406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219456" tIns="182880" rIns="219456" rtlCol="0" anchor="ctr"/>
          <a:lstStyle/>
          <a:p>
            <a:pPr algn="ctr">
              <a:defRPr sz="1500" b="1">
                <a:solidFill>
                  <a:srgbClr val="0F172A"/>
                </a:solidFill>
                <a:latin typeface="Segoe UI"/>
              </a:defRPr>
            </a:pPr>
            <a:r>
              <a:rPr sz="1200" dirty="0"/>
              <a:t>Continuous Background Monitoring</a:t>
            </a:r>
          </a:p>
          <a:p>
            <a:pPr>
              <a:spcBef>
                <a:spcPts val="400"/>
              </a:spcBef>
              <a:defRPr sz="1100">
                <a:solidFill>
                  <a:srgbClr val="475569"/>
                </a:solidFill>
                <a:latin typeface="Segoe UI"/>
              </a:defRPr>
            </a:pPr>
            <a:r>
              <a:rPr sz="1200" dirty="0"/>
              <a:t>n8n scheduled </a:t>
            </a:r>
            <a:r>
              <a:rPr sz="1200" dirty="0" err="1"/>
              <a:t>cron</a:t>
            </a:r>
            <a:r>
              <a:rPr sz="1200" dirty="0"/>
              <a:t> workflows query calendar and task state every 30 minutes, feeding context to the AI reasoner to detect:</a:t>
            </a:r>
          </a:p>
          <a:p>
            <a:pPr>
              <a:spcBef>
                <a:spcPts val="500"/>
              </a:spcBef>
              <a:defRPr sz="1050" b="1">
                <a:solidFill>
                  <a:srgbClr val="0284C7"/>
                </a:solidFill>
                <a:latin typeface="Segoe UI"/>
              </a:defRPr>
            </a:pPr>
            <a:r>
              <a:rPr sz="1200" dirty="0"/>
              <a:t>• Upcoming Deadlines: </a:t>
            </a:r>
            <a:r>
              <a:rPr sz="1200" b="0" dirty="0">
                <a:solidFill>
                  <a:srgbClr val="475569"/>
                </a:solidFill>
              </a:rPr>
              <a:t>Detects assignments due within 24-48 hours with insufficient prep time allocated.</a:t>
            </a:r>
          </a:p>
          <a:p>
            <a:pPr>
              <a:spcBef>
                <a:spcPts val="500"/>
              </a:spcBef>
              <a:defRPr sz="1050" b="1">
                <a:solidFill>
                  <a:srgbClr val="0284C7"/>
                </a:solidFill>
                <a:latin typeface="Segoe UI"/>
              </a:defRPr>
            </a:pPr>
            <a:r>
              <a:rPr sz="1200" dirty="0"/>
              <a:t>• Schedule Conflicts: </a:t>
            </a:r>
            <a:r>
              <a:rPr sz="1200" b="0" dirty="0">
                <a:solidFill>
                  <a:srgbClr val="475569"/>
                </a:solidFill>
              </a:rPr>
              <a:t>Identifies meetings or appointments overlapping with scheduled deep work.</a:t>
            </a:r>
          </a:p>
          <a:p>
            <a:pPr>
              <a:spcBef>
                <a:spcPts val="500"/>
              </a:spcBef>
              <a:defRPr sz="1050" b="1">
                <a:solidFill>
                  <a:srgbClr val="0284C7"/>
                </a:solidFill>
                <a:latin typeface="Segoe UI"/>
              </a:defRPr>
            </a:pPr>
            <a:r>
              <a:rPr sz="1200" dirty="0"/>
              <a:t>• Unfinished Tasks: </a:t>
            </a:r>
            <a:r>
              <a:rPr sz="1200" b="0" dirty="0">
                <a:solidFill>
                  <a:srgbClr val="475569"/>
                </a:solidFill>
              </a:rPr>
              <a:t>Flags overdue or slipping priorities and evaluates reallocation options.</a:t>
            </a:r>
          </a:p>
          <a:p>
            <a:pPr>
              <a:spcBef>
                <a:spcPts val="500"/>
              </a:spcBef>
              <a:defRPr sz="1050" b="1">
                <a:solidFill>
                  <a:srgbClr val="0284C7"/>
                </a:solidFill>
                <a:latin typeface="Segoe UI"/>
              </a:defRPr>
            </a:pPr>
            <a:r>
              <a:rPr sz="1200" dirty="0"/>
              <a:t>• Overloaded Days: </a:t>
            </a:r>
            <a:r>
              <a:rPr sz="1200" b="0" dirty="0">
                <a:solidFill>
                  <a:srgbClr val="475569"/>
                </a:solidFill>
              </a:rPr>
              <a:t>Warns when daily commitments exceed sustainable work thresholds (burnout prevention).</a:t>
            </a:r>
          </a:p>
          <a:p>
            <a:pPr>
              <a:spcBef>
                <a:spcPts val="500"/>
              </a:spcBef>
              <a:defRPr sz="1050" b="1">
                <a:solidFill>
                  <a:srgbClr val="0284C7"/>
                </a:solidFill>
                <a:latin typeface="Segoe UI"/>
              </a:defRPr>
            </a:pPr>
            <a:r>
              <a:rPr sz="1200" dirty="0"/>
              <a:t>• Habit &amp; Routine Drift: </a:t>
            </a:r>
            <a:r>
              <a:rPr sz="1200" b="0" dirty="0">
                <a:solidFill>
                  <a:srgbClr val="475569"/>
                </a:solidFill>
              </a:rPr>
              <a:t>Notices deviations from user-defined morning planning and wellness habits.</a:t>
            </a:r>
          </a:p>
          <a:p>
            <a:pPr>
              <a:spcBef>
                <a:spcPts val="1200"/>
              </a:spcBef>
              <a:defRPr sz="1000" i="1">
                <a:solidFill>
                  <a:srgbClr val="0D9488"/>
                </a:solidFill>
                <a:latin typeface="Segoe UI"/>
              </a:defRPr>
            </a:pPr>
            <a:r>
              <a:rPr sz="1200" dirty="0"/>
              <a:t>★ Realistic Engineering Boundary: OPHELIA does not unilaterally hijack the user’s schedule. High-impact shifts are presented as clear actionable recommendations requiring one-click confirmation.</a:t>
            </a:r>
          </a:p>
        </p:txBody>
      </p:sp>
      <p:sp>
        <p:nvSpPr>
          <p:cNvPr id="6" name="Rounded Rectangle 5"/>
          <p:cNvSpPr/>
          <p:nvPr/>
        </p:nvSpPr>
        <p:spPr>
          <a:xfrm>
            <a:off x="6080760" y="1508760"/>
            <a:ext cx="5650992" cy="489204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80760" y="1508760"/>
            <a:ext cx="5650992" cy="438912"/>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91440" rtlCol="0" anchor="ctr"/>
          <a:lstStyle/>
          <a:p>
            <a:pPr algn="ctr">
              <a:defRPr sz="1050" b="1">
                <a:solidFill>
                  <a:srgbClr val="38BDF8"/>
                </a:solidFill>
                <a:latin typeface="Segoe UI"/>
              </a:defRPr>
            </a:pPr>
            <a:r>
              <a:t>AI COMMAND CENTER  •  PROACTIVE INTERVENTION CARD</a:t>
            </a:r>
          </a:p>
        </p:txBody>
      </p:sp>
      <p:sp>
        <p:nvSpPr>
          <p:cNvPr id="8" name="TextBox 7"/>
          <p:cNvSpPr txBox="1"/>
          <p:nvPr/>
        </p:nvSpPr>
        <p:spPr>
          <a:xfrm>
            <a:off x="6355080" y="2057400"/>
            <a:ext cx="5120640" cy="1482457"/>
          </a:xfrm>
          <a:prstGeom prst="rect">
            <a:avLst/>
          </a:prstGeom>
          <a:noFill/>
        </p:spPr>
        <p:txBody>
          <a:bodyPr wrap="square" lIns="0" tIns="0" rIns="0" bIns="0">
            <a:spAutoFit/>
          </a:bodyPr>
          <a:lstStyle/>
          <a:p>
            <a:pPr>
              <a:defRPr sz="1700" b="1">
                <a:solidFill>
                  <a:srgbClr val="F1F5F9"/>
                </a:solidFill>
                <a:latin typeface="Segoe UI"/>
              </a:defRPr>
            </a:pPr>
            <a:r>
              <a:rPr dirty="0"/>
              <a:t>Good morning, </a:t>
            </a:r>
            <a:r>
              <a:rPr lang="en-IN" dirty="0"/>
              <a:t>Myra</a:t>
            </a:r>
            <a:r>
              <a:rPr dirty="0"/>
              <a:t>.</a:t>
            </a:r>
          </a:p>
          <a:p>
            <a:pPr>
              <a:spcBef>
                <a:spcPts val="400"/>
              </a:spcBef>
              <a:defRPr sz="1100">
                <a:solidFill>
                  <a:srgbClr val="94A3B8"/>
                </a:solidFill>
                <a:latin typeface="Segoe UI"/>
              </a:defRPr>
            </a:pPr>
            <a:r>
              <a:rPr dirty="0"/>
              <a:t>OPHELIA has analyzed your day and detected a schedule conflict:</a:t>
            </a:r>
          </a:p>
          <a:p>
            <a:pPr>
              <a:spcBef>
                <a:spcPts val="400"/>
              </a:spcBef>
              <a:defRPr sz="1100">
                <a:solidFill>
                  <a:srgbClr val="E2E8F0"/>
                </a:solidFill>
                <a:latin typeface="Segoe UI"/>
              </a:defRPr>
            </a:pPr>
            <a:r>
              <a:rPr dirty="0"/>
              <a:t>• You have 4 active tasks scheduled for today.</a:t>
            </a:r>
          </a:p>
          <a:p>
            <a:pPr>
              <a:spcBef>
                <a:spcPts val="400"/>
              </a:spcBef>
              <a:defRPr sz="1100">
                <a:solidFill>
                  <a:srgbClr val="FBBF24"/>
                </a:solidFill>
                <a:latin typeface="Segoe UI"/>
              </a:defRPr>
            </a:pPr>
            <a:r>
              <a:rPr dirty="0"/>
              <a:t>• ⚠️ Conflict Detected: Your 3:00 PM team sync overlaps with planned assignment work.</a:t>
            </a:r>
          </a:p>
          <a:p>
            <a:pPr>
              <a:spcBef>
                <a:spcPts val="400"/>
              </a:spcBef>
              <a:defRPr sz="1100">
                <a:solidFill>
                  <a:srgbClr val="FBBF24"/>
                </a:solidFill>
                <a:latin typeface="Segoe UI"/>
              </a:defRPr>
            </a:pPr>
            <a:r>
              <a:rPr dirty="0"/>
              <a:t>• ⚠️ Urgent Deadline: Assignment #2 is due tomorrow at 11:59 PM (estimated 3 hours remaining).</a:t>
            </a:r>
          </a:p>
        </p:txBody>
      </p:sp>
      <p:sp>
        <p:nvSpPr>
          <p:cNvPr id="9" name="Rounded Rectangle 8"/>
          <p:cNvSpPr/>
          <p:nvPr/>
        </p:nvSpPr>
        <p:spPr>
          <a:xfrm>
            <a:off x="6355080" y="3977639"/>
            <a:ext cx="5120640" cy="12801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164592" tIns="109728" rtlCol="0" anchor="ctr"/>
          <a:lstStyle/>
          <a:p>
            <a:pPr algn="ctr">
              <a:defRPr sz="1050" b="1">
                <a:solidFill>
                  <a:srgbClr val="38BDF8"/>
                </a:solidFill>
                <a:latin typeface="Segoe UI"/>
              </a:defRPr>
            </a:pPr>
            <a:r>
              <a:t>SUGGESTED ACTION PLAN:</a:t>
            </a:r>
          </a:p>
          <a:p>
            <a:pPr>
              <a:spcBef>
                <a:spcPts val="300"/>
              </a:spcBef>
              <a:defRPr sz="1100">
                <a:solidFill>
                  <a:srgbClr val="F1F5F9"/>
                </a:solidFill>
                <a:latin typeface="Segoe UI"/>
              </a:defRPr>
            </a:pPr>
            <a:r>
              <a:t>Move today’s study session to 7:00 PM and schedule a 90-minute focused work block at 4:30 PM.</a:t>
            </a:r>
          </a:p>
        </p:txBody>
      </p:sp>
      <p:sp>
        <p:nvSpPr>
          <p:cNvPr id="10" name="Rounded Rectangle 9"/>
          <p:cNvSpPr/>
          <p:nvPr/>
        </p:nvSpPr>
        <p:spPr>
          <a:xfrm>
            <a:off x="6355080" y="5440680"/>
            <a:ext cx="2194560" cy="502920"/>
          </a:xfrm>
          <a:prstGeom prst="roundRect">
            <a:avLst/>
          </a:prstGeom>
          <a:solidFill>
            <a:srgbClr val="334155"/>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1F5F9"/>
                </a:solidFill>
                <a:latin typeface="Segoe UI"/>
              </a:defRPr>
            </a:pPr>
            <a:r>
              <a:t>Review Plan Details</a:t>
            </a:r>
          </a:p>
        </p:txBody>
      </p:sp>
      <p:sp>
        <p:nvSpPr>
          <p:cNvPr id="11" name="Rounded Rectangle 10"/>
          <p:cNvSpPr/>
          <p:nvPr/>
        </p:nvSpPr>
        <p:spPr>
          <a:xfrm>
            <a:off x="8732520" y="5440680"/>
            <a:ext cx="2743200" cy="502920"/>
          </a:xfrm>
          <a:prstGeom prst="roundRect">
            <a:avLst/>
          </a:prstGeom>
          <a:solidFill>
            <a:srgbClr val="0284C7"/>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 Execute Action via n8n</a:t>
            </a:r>
          </a:p>
        </p:txBody>
      </p:sp>
      <p:sp>
        <p:nvSpPr>
          <p:cNvPr id="12" name="TextBox 11"/>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5 of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INTELLIGENT DECISION ENGINE</a:t>
            </a:r>
          </a:p>
        </p:txBody>
      </p:sp>
      <p:sp>
        <p:nvSpPr>
          <p:cNvPr id="4" name="TextBox 3"/>
          <p:cNvSpPr txBox="1"/>
          <p:nvPr/>
        </p:nvSpPr>
        <p:spPr>
          <a:xfrm>
            <a:off x="457200" y="640080"/>
            <a:ext cx="11274552" cy="777240"/>
          </a:xfrm>
          <a:prstGeom prst="rect">
            <a:avLst/>
          </a:prstGeom>
          <a:noFill/>
        </p:spPr>
        <p:txBody>
          <a:bodyPr wrap="square" lIns="0" tIns="0" rIns="0" bIns="0">
            <a:spAutoFit/>
          </a:bodyPr>
          <a:lstStyle/>
          <a:p>
            <a:pPr>
              <a:defRPr sz="2600" b="1">
                <a:solidFill>
                  <a:srgbClr val="0F172A"/>
                </a:solidFill>
                <a:latin typeface="Segoe UI"/>
              </a:defRPr>
            </a:pPr>
            <a:r>
              <a:t>Context-Aware Decision Making</a:t>
            </a:r>
          </a:p>
          <a:p>
            <a:pPr>
              <a:spcBef>
                <a:spcPts val="200"/>
              </a:spcBef>
              <a:defRPr sz="1350">
                <a:solidFill>
                  <a:srgbClr val="475569"/>
                </a:solidFill>
                <a:latin typeface="Segoe UI"/>
              </a:defRPr>
            </a:pPr>
            <a:r>
              <a:t>Why situational reasoning fundamentally surpasses rigid 'If-This-Then-That' automation</a:t>
            </a:r>
          </a:p>
        </p:txBody>
      </p:sp>
      <p:sp>
        <p:nvSpPr>
          <p:cNvPr id="5" name="Rounded Rectangle 4"/>
          <p:cNvSpPr/>
          <p:nvPr/>
        </p:nvSpPr>
        <p:spPr>
          <a:xfrm>
            <a:off x="457200" y="1508760"/>
            <a:ext cx="5504688" cy="4892040"/>
          </a:xfrm>
          <a:prstGeom prst="roundRect">
            <a:avLst/>
          </a:prstGeom>
          <a:solidFill>
            <a:srgbClr val="FFFFFF"/>
          </a:solidFill>
          <a:ln w="16510">
            <a:solidFill>
              <a:srgbClr val="FCA5A5"/>
            </a:solidFill>
          </a:ln>
        </p:spPr>
        <p:style>
          <a:lnRef idx="1">
            <a:schemeClr val="accent1"/>
          </a:lnRef>
          <a:fillRef idx="3">
            <a:schemeClr val="accent1"/>
          </a:fillRef>
          <a:effectRef idx="2">
            <a:schemeClr val="accent1"/>
          </a:effectRef>
          <a:fontRef idx="minor">
            <a:schemeClr val="lt1"/>
          </a:fontRef>
        </p:style>
        <p:txBody>
          <a:bodyPr wrap="square" lIns="219456" tIns="182880" rIns="219456" rtlCol="0" anchor="ctr"/>
          <a:lstStyle/>
          <a:p>
            <a:pPr algn="ctr">
              <a:defRPr sz="1400" b="1">
                <a:solidFill>
                  <a:srgbClr val="DC2626"/>
                </a:solidFill>
                <a:latin typeface="Segoe UI"/>
              </a:defRPr>
            </a:pPr>
            <a:endParaRPr dirty="0"/>
          </a:p>
        </p:txBody>
      </p:sp>
      <p:sp>
        <p:nvSpPr>
          <p:cNvPr id="6" name="Rounded Rectangle 5"/>
          <p:cNvSpPr/>
          <p:nvPr/>
        </p:nvSpPr>
        <p:spPr>
          <a:xfrm>
            <a:off x="676656" y="2057400"/>
            <a:ext cx="5065776" cy="548640"/>
          </a:xfrm>
          <a:prstGeom prst="roundRect">
            <a:avLst/>
          </a:prstGeom>
          <a:solidFill>
            <a:srgbClr val="FEF2F2"/>
          </a:solidFill>
          <a:ln>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91C1C"/>
                </a:solidFill>
                <a:latin typeface="Consolas"/>
              </a:defRPr>
            </a:pPr>
            <a:r>
              <a:t>Trigger  →  Hardcoded Rule  →  Static Action</a:t>
            </a:r>
          </a:p>
        </p:txBody>
      </p:sp>
      <p:sp>
        <p:nvSpPr>
          <p:cNvPr id="7" name="TextBox 6"/>
          <p:cNvSpPr txBox="1"/>
          <p:nvPr/>
        </p:nvSpPr>
        <p:spPr>
          <a:xfrm>
            <a:off x="805557" y="2743200"/>
            <a:ext cx="5065776" cy="2759730"/>
          </a:xfrm>
          <a:prstGeom prst="rect">
            <a:avLst/>
          </a:prstGeom>
          <a:noFill/>
        </p:spPr>
        <p:txBody>
          <a:bodyPr wrap="square" lIns="0" tIns="0" rIns="0" bIns="0">
            <a:spAutoFit/>
          </a:bodyPr>
          <a:lstStyle/>
          <a:p>
            <a:pPr>
              <a:spcBef>
                <a:spcPts val="400"/>
              </a:spcBef>
              <a:defRPr sz="1100" b="1">
                <a:solidFill>
                  <a:srgbClr val="0F172A"/>
                </a:solidFill>
                <a:latin typeface="Segoe UI"/>
              </a:defRPr>
            </a:pPr>
            <a:r>
              <a:rPr sz="1300" dirty="0"/>
              <a:t>Scenario: </a:t>
            </a:r>
            <a:r>
              <a:rPr sz="1300" b="0" dirty="0">
                <a:solidFill>
                  <a:srgbClr val="475569"/>
                </a:solidFill>
                <a:latin typeface="Segoe UI"/>
              </a:rPr>
              <a:t>An incoming email arrives containing assignment details.</a:t>
            </a:r>
          </a:p>
          <a:p>
            <a:pPr>
              <a:spcBef>
                <a:spcPts val="400"/>
              </a:spcBef>
              <a:defRPr sz="1100" b="1">
                <a:solidFill>
                  <a:srgbClr val="0F172A"/>
                </a:solidFill>
                <a:latin typeface="Segoe UI"/>
              </a:defRPr>
            </a:pPr>
            <a:r>
              <a:rPr sz="1300" dirty="0"/>
              <a:t>Fixed Logic: </a:t>
            </a:r>
            <a:r>
              <a:rPr sz="1300" b="0" dirty="0">
                <a:solidFill>
                  <a:srgbClr val="475569"/>
                </a:solidFill>
                <a:latin typeface="Segoe UI"/>
              </a:rPr>
              <a:t>Regex checks: 'If subject contains [Assignment] → Create task'.</a:t>
            </a:r>
          </a:p>
          <a:p>
            <a:pPr>
              <a:spcBef>
                <a:spcPts val="400"/>
              </a:spcBef>
              <a:defRPr sz="1100" b="1">
                <a:solidFill>
                  <a:srgbClr val="0F172A"/>
                </a:solidFill>
                <a:latin typeface="Segoe UI"/>
              </a:defRPr>
            </a:pPr>
            <a:r>
              <a:rPr sz="1300" dirty="0"/>
              <a:t>Blind Execution: </a:t>
            </a:r>
            <a:r>
              <a:rPr sz="1300" b="0" dirty="0">
                <a:solidFill>
                  <a:srgbClr val="475569"/>
                </a:solidFill>
                <a:latin typeface="Segoe UI"/>
              </a:rPr>
              <a:t>Creates a generic task with no due date, ignores whether the user has exams that week, and creates no study time on the calendar.</a:t>
            </a:r>
          </a:p>
          <a:p>
            <a:pPr>
              <a:spcBef>
                <a:spcPts val="400"/>
              </a:spcBef>
              <a:defRPr sz="1100" b="1">
                <a:solidFill>
                  <a:srgbClr val="0F172A"/>
                </a:solidFill>
                <a:latin typeface="Segoe UI"/>
              </a:defRPr>
            </a:pPr>
            <a:r>
              <a:rPr sz="1300" dirty="0"/>
              <a:t>Failure Modes: </a:t>
            </a:r>
            <a:r>
              <a:rPr sz="1300" b="0" dirty="0">
                <a:solidFill>
                  <a:srgbClr val="475569"/>
                </a:solidFill>
                <a:latin typeface="Segoe UI"/>
              </a:rPr>
              <a:t>• Collides with existing commitments
• Ignores urgent task deadlines
• Triggers notification overload
• Zero awareness of human capacity</a:t>
            </a:r>
          </a:p>
          <a:p>
            <a:pPr>
              <a:spcBef>
                <a:spcPts val="400"/>
              </a:spcBef>
              <a:defRPr sz="1100" b="1">
                <a:solidFill>
                  <a:srgbClr val="0F172A"/>
                </a:solidFill>
                <a:latin typeface="Segoe UI"/>
              </a:defRPr>
            </a:pPr>
            <a:r>
              <a:rPr sz="1300" dirty="0"/>
              <a:t>Outcome: </a:t>
            </a:r>
            <a:r>
              <a:rPr sz="1300" b="0" dirty="0">
                <a:solidFill>
                  <a:srgbClr val="475569"/>
                </a:solidFill>
                <a:latin typeface="Segoe UI"/>
              </a:rPr>
              <a:t>User is still forced to manually assess, reschedule, and organize everything.</a:t>
            </a:r>
          </a:p>
        </p:txBody>
      </p:sp>
      <p:sp>
        <p:nvSpPr>
          <p:cNvPr id="8" name="Rounded Rectangle 7"/>
          <p:cNvSpPr/>
          <p:nvPr/>
        </p:nvSpPr>
        <p:spPr>
          <a:xfrm>
            <a:off x="6227064" y="1508760"/>
            <a:ext cx="5504688" cy="489204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wrap="square" lIns="219456" tIns="182880" rIns="219456" rtlCol="0" anchor="ctr"/>
          <a:lstStyle/>
          <a:p>
            <a:pPr algn="ctr">
              <a:defRPr sz="1400" b="1">
                <a:solidFill>
                  <a:srgbClr val="0284C7"/>
                </a:solidFill>
                <a:latin typeface="Segoe UI"/>
              </a:defRPr>
            </a:pPr>
            <a:endParaRPr lang="en-US" dirty="0"/>
          </a:p>
        </p:txBody>
      </p:sp>
      <p:sp>
        <p:nvSpPr>
          <p:cNvPr id="9" name="Rounded Rectangle 8"/>
          <p:cNvSpPr/>
          <p:nvPr/>
        </p:nvSpPr>
        <p:spPr>
          <a:xfrm>
            <a:off x="6446520" y="2057400"/>
            <a:ext cx="5065776" cy="54864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284C7"/>
                </a:solidFill>
                <a:latin typeface="Consolas"/>
              </a:defRPr>
            </a:pPr>
            <a:r>
              <a:t>Trigger → Context Engine → AI Reasoner → n8n Plan</a:t>
            </a:r>
          </a:p>
        </p:txBody>
      </p:sp>
      <p:sp>
        <p:nvSpPr>
          <p:cNvPr id="10" name="TextBox 9"/>
          <p:cNvSpPr txBox="1"/>
          <p:nvPr/>
        </p:nvSpPr>
        <p:spPr>
          <a:xfrm>
            <a:off x="6446520" y="2697480"/>
            <a:ext cx="5065776" cy="3474720"/>
          </a:xfrm>
          <a:prstGeom prst="rect">
            <a:avLst/>
          </a:prstGeom>
          <a:noFill/>
        </p:spPr>
        <p:txBody>
          <a:bodyPr wrap="square" lIns="0" tIns="0" rIns="0" bIns="0">
            <a:spAutoFit/>
          </a:bodyPr>
          <a:lstStyle/>
          <a:p>
            <a:pPr>
              <a:spcBef>
                <a:spcPts val="400"/>
              </a:spcBef>
              <a:defRPr sz="1100" b="1">
                <a:solidFill>
                  <a:srgbClr val="0F172A"/>
                </a:solidFill>
                <a:latin typeface="Segoe UI"/>
              </a:defRPr>
            </a:pPr>
            <a:r>
              <a:rPr sz="1300" dirty="0"/>
              <a:t>Scenario: </a:t>
            </a:r>
            <a:r>
              <a:rPr sz="1300" b="0" dirty="0">
                <a:solidFill>
                  <a:srgbClr val="475569"/>
                </a:solidFill>
                <a:latin typeface="Segoe UI"/>
              </a:rPr>
              <a:t>Same incoming email containing assignment details arrives.</a:t>
            </a:r>
          </a:p>
          <a:p>
            <a:pPr>
              <a:spcBef>
                <a:spcPts val="400"/>
              </a:spcBef>
              <a:defRPr sz="1100" b="1">
                <a:solidFill>
                  <a:srgbClr val="0F172A"/>
                </a:solidFill>
                <a:latin typeface="Segoe UI"/>
              </a:defRPr>
            </a:pPr>
            <a:r>
              <a:rPr sz="1300" dirty="0"/>
              <a:t>Context Synthesis: </a:t>
            </a:r>
            <a:r>
              <a:rPr sz="1300" b="0" dirty="0">
                <a:solidFill>
                  <a:srgbClr val="475569"/>
                </a:solidFill>
                <a:latin typeface="Segoe UI"/>
              </a:rPr>
              <a:t>LLM parses assignment deadline (Wed), cross-references existing Friday exam, pulls current week’s calendar load, and checks stored study preferences.</a:t>
            </a:r>
          </a:p>
          <a:p>
            <a:pPr>
              <a:spcBef>
                <a:spcPts val="400"/>
              </a:spcBef>
              <a:defRPr sz="1100" b="1">
                <a:solidFill>
                  <a:srgbClr val="0F172A"/>
                </a:solidFill>
                <a:latin typeface="Segoe UI"/>
              </a:defRPr>
            </a:pPr>
            <a:r>
              <a:rPr sz="1300" dirty="0"/>
              <a:t>Multi-Step Optimization: </a:t>
            </a:r>
            <a:r>
              <a:rPr sz="1300" b="0" dirty="0">
                <a:solidFill>
                  <a:srgbClr val="475569"/>
                </a:solidFill>
                <a:latin typeface="Segoe UI"/>
              </a:rPr>
              <a:t>Evaluates open time slots, detects that Thursday is overloaded, and schedules 2 balanced 90-min sessions on Monday &amp; Tuesday.</a:t>
            </a:r>
          </a:p>
          <a:p>
            <a:pPr>
              <a:spcBef>
                <a:spcPts val="400"/>
              </a:spcBef>
              <a:defRPr sz="1100" b="1">
                <a:solidFill>
                  <a:srgbClr val="0F172A"/>
                </a:solidFill>
                <a:latin typeface="Segoe UI"/>
              </a:defRPr>
            </a:pPr>
            <a:r>
              <a:rPr sz="1300" dirty="0"/>
              <a:t>Autonomous Execution: </a:t>
            </a:r>
            <a:r>
              <a:rPr sz="1300" b="0" dirty="0">
                <a:solidFill>
                  <a:srgbClr val="475569"/>
                </a:solidFill>
                <a:latin typeface="Segoe UI"/>
              </a:rPr>
              <a:t>• Calls Google Calendar to insert study blocks
• Adds structured Todo</a:t>
            </a:r>
            <a:r>
              <a:rPr lang="en-IN" sz="1300" b="0" dirty="0">
                <a:solidFill>
                  <a:srgbClr val="475569"/>
                </a:solidFill>
                <a:latin typeface="Segoe UI"/>
              </a:rPr>
              <a:t>-L</a:t>
            </a:r>
            <a:r>
              <a:rPr sz="1300" b="0" dirty="0" err="1">
                <a:solidFill>
                  <a:srgbClr val="475569"/>
                </a:solidFill>
                <a:latin typeface="Segoe UI"/>
              </a:rPr>
              <a:t>ist</a:t>
            </a:r>
            <a:r>
              <a:rPr sz="1300" b="0" dirty="0">
                <a:solidFill>
                  <a:srgbClr val="475569"/>
                </a:solidFill>
                <a:latin typeface="Segoe UI"/>
              </a:rPr>
              <a:t> checklist
• Sets milestone reminder in n8n
• Displays summary card on Command Center</a:t>
            </a:r>
          </a:p>
          <a:p>
            <a:pPr>
              <a:spcBef>
                <a:spcPts val="400"/>
              </a:spcBef>
              <a:defRPr sz="1100" b="1">
                <a:solidFill>
                  <a:srgbClr val="0F172A"/>
                </a:solidFill>
                <a:latin typeface="Segoe UI"/>
              </a:defRPr>
            </a:pPr>
            <a:r>
              <a:rPr sz="1300" dirty="0"/>
              <a:t>Outcome: </a:t>
            </a:r>
            <a:r>
              <a:rPr sz="1300" b="0" dirty="0">
                <a:solidFill>
                  <a:srgbClr val="475569"/>
                </a:solidFill>
                <a:latin typeface="Segoe UI"/>
              </a:rPr>
              <a:t>Zero friction. Context understood, plan synthesized, action completed.</a:t>
            </a:r>
          </a:p>
        </p:txBody>
      </p:sp>
      <p:sp>
        <p:nvSpPr>
          <p:cNvPr id="11" name="TextBox 10"/>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6 of 10</a:t>
            </a:r>
          </a:p>
        </p:txBody>
      </p:sp>
      <p:sp>
        <p:nvSpPr>
          <p:cNvPr id="12" name="TextBox 11">
            <a:extLst>
              <a:ext uri="{FF2B5EF4-FFF2-40B4-BE49-F238E27FC236}">
                <a16:creationId xmlns:a16="http://schemas.microsoft.com/office/drawing/2014/main" id="{C39F590D-435C-6791-E695-AC64BEB6C575}"/>
              </a:ext>
            </a:extLst>
          </p:cNvPr>
          <p:cNvSpPr txBox="1"/>
          <p:nvPr/>
        </p:nvSpPr>
        <p:spPr>
          <a:xfrm>
            <a:off x="953041" y="1583471"/>
            <a:ext cx="4513006" cy="307777"/>
          </a:xfrm>
          <a:prstGeom prst="rect">
            <a:avLst/>
          </a:prstGeom>
          <a:noFill/>
        </p:spPr>
        <p:txBody>
          <a:bodyPr wrap="square" rtlCol="0">
            <a:spAutoFit/>
          </a:bodyPr>
          <a:lstStyle/>
          <a:p>
            <a:pPr algn="ctr">
              <a:defRPr sz="1400" b="1">
                <a:solidFill>
                  <a:srgbClr val="DC2626"/>
                </a:solidFill>
                <a:latin typeface="Segoe UI"/>
              </a:defRPr>
            </a:pPr>
            <a:r>
              <a:rPr lang="en-IN"/>
              <a:t>TRADITIONAL AUTOMATION (Brittle Rules)</a:t>
            </a:r>
            <a:endParaRPr lang="en-IN" dirty="0"/>
          </a:p>
        </p:txBody>
      </p:sp>
      <p:sp>
        <p:nvSpPr>
          <p:cNvPr id="14" name="TextBox 13">
            <a:extLst>
              <a:ext uri="{FF2B5EF4-FFF2-40B4-BE49-F238E27FC236}">
                <a16:creationId xmlns:a16="http://schemas.microsoft.com/office/drawing/2014/main" id="{777DEE04-7FB0-5365-1B66-E9B1296FCA42}"/>
              </a:ext>
            </a:extLst>
          </p:cNvPr>
          <p:cNvSpPr txBox="1"/>
          <p:nvPr/>
        </p:nvSpPr>
        <p:spPr>
          <a:xfrm>
            <a:off x="6567948" y="1583471"/>
            <a:ext cx="4817807" cy="307777"/>
          </a:xfrm>
          <a:prstGeom prst="rect">
            <a:avLst/>
          </a:prstGeom>
          <a:noFill/>
        </p:spPr>
        <p:txBody>
          <a:bodyPr wrap="square" rtlCol="0">
            <a:spAutoFit/>
          </a:bodyPr>
          <a:lstStyle/>
          <a:p>
            <a:pPr algn="ctr">
              <a:defRPr sz="1400" b="1">
                <a:solidFill>
                  <a:srgbClr val="0284C7"/>
                </a:solidFill>
                <a:latin typeface="Segoe UI"/>
              </a:defRPr>
            </a:pPr>
            <a:r>
              <a:rPr lang="en-US"/>
              <a:t>OPHELIA CONTEXT-AWARE SYSTEM (Adaptive AI)</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MODULAR VERSATILITY</a:t>
            </a:r>
          </a:p>
        </p:txBody>
      </p:sp>
      <p:sp>
        <p:nvSpPr>
          <p:cNvPr id="4" name="TextBox 3"/>
          <p:cNvSpPr txBox="1"/>
          <p:nvPr/>
        </p:nvSpPr>
        <p:spPr>
          <a:xfrm>
            <a:off x="457200" y="640080"/>
            <a:ext cx="11274552" cy="777240"/>
          </a:xfrm>
          <a:prstGeom prst="rect">
            <a:avLst/>
          </a:prstGeom>
          <a:noFill/>
        </p:spPr>
        <p:txBody>
          <a:bodyPr wrap="square" lIns="0" tIns="0" rIns="0" bIns="0">
            <a:spAutoFit/>
          </a:bodyPr>
          <a:lstStyle/>
          <a:p>
            <a:pPr>
              <a:defRPr sz="2600" b="1">
                <a:solidFill>
                  <a:srgbClr val="0F172A"/>
                </a:solidFill>
                <a:latin typeface="Segoe UI"/>
              </a:defRPr>
            </a:pPr>
            <a:r>
              <a:t>Specialized Modes, One Unified Intelligence</a:t>
            </a:r>
          </a:p>
          <a:p>
            <a:pPr>
              <a:spcBef>
                <a:spcPts val="200"/>
              </a:spcBef>
              <a:defRPr sz="1350">
                <a:solidFill>
                  <a:srgbClr val="475569"/>
                </a:solidFill>
                <a:latin typeface="Segoe UI"/>
              </a:defRPr>
            </a:pPr>
            <a:r>
              <a:t>Different specialized workflows powered by the identical core OPHELIA reasoning &amp; n8n architecture</a:t>
            </a:r>
          </a:p>
        </p:txBody>
      </p:sp>
      <p:sp>
        <p:nvSpPr>
          <p:cNvPr id="5" name="Rounded Rectangle 4"/>
          <p:cNvSpPr/>
          <p:nvPr/>
        </p:nvSpPr>
        <p:spPr>
          <a:xfrm>
            <a:off x="457200" y="1508760"/>
            <a:ext cx="5504688" cy="2057400"/>
          </a:xfrm>
          <a:prstGeom prst="roundRect">
            <a:avLst/>
          </a:prstGeom>
          <a:solidFill>
            <a:srgbClr val="E0F2FE"/>
          </a:solidFill>
          <a:ln w="16510">
            <a:solidFill>
              <a:srgbClr val="0369A1"/>
            </a:solidFill>
          </a:ln>
        </p:spPr>
        <p:style>
          <a:lnRef idx="1">
            <a:schemeClr val="accent1"/>
          </a:lnRef>
          <a:fillRef idx="3">
            <a:schemeClr val="accent1"/>
          </a:fillRef>
          <a:effectRef idx="2">
            <a:schemeClr val="accent1"/>
          </a:effectRef>
          <a:fontRef idx="minor">
            <a:schemeClr val="lt1"/>
          </a:fontRef>
        </p:style>
        <p:txBody>
          <a:bodyPr wrap="square" lIns="182880" tIns="128016" rIns="182880" rtlCol="0" anchor="ctr"/>
          <a:lstStyle/>
          <a:p>
            <a:pPr algn="ctr">
              <a:defRPr sz="1400" b="1">
                <a:solidFill>
                  <a:srgbClr val="0369A1"/>
                </a:solidFill>
                <a:latin typeface="Segoe UI"/>
              </a:defRPr>
            </a:pPr>
            <a:r>
              <a:rPr sz="1250" dirty="0"/>
              <a:t>❖  Personal Assistant Mode</a:t>
            </a:r>
          </a:p>
          <a:p>
            <a:pPr>
              <a:defRPr sz="1100" b="1">
                <a:solidFill>
                  <a:srgbClr val="0F172A"/>
                </a:solidFill>
                <a:latin typeface="Segoe UI"/>
              </a:defRPr>
            </a:pPr>
            <a:r>
              <a:rPr sz="1250" dirty="0"/>
              <a:t>Daily Schedule &amp; Executive Planning</a:t>
            </a:r>
          </a:p>
          <a:p>
            <a:pPr>
              <a:spcBef>
                <a:spcPts val="200"/>
              </a:spcBef>
              <a:defRPr sz="1000">
                <a:solidFill>
                  <a:srgbClr val="475569"/>
                </a:solidFill>
                <a:latin typeface="Segoe UI"/>
              </a:defRPr>
            </a:pPr>
            <a:r>
              <a:rPr sz="1250" dirty="0"/>
              <a:t>• Dynamic calendar orchestration &amp; meeting conflict resolution</a:t>
            </a:r>
          </a:p>
          <a:p>
            <a:pPr>
              <a:spcBef>
                <a:spcPts val="200"/>
              </a:spcBef>
              <a:defRPr sz="1000">
                <a:solidFill>
                  <a:srgbClr val="475569"/>
                </a:solidFill>
                <a:latin typeface="Segoe UI"/>
              </a:defRPr>
            </a:pPr>
            <a:r>
              <a:rPr sz="1250" dirty="0"/>
              <a:t>• Daily morning priorities brief &amp; attention management</a:t>
            </a:r>
          </a:p>
          <a:p>
            <a:pPr>
              <a:spcBef>
                <a:spcPts val="200"/>
              </a:spcBef>
              <a:defRPr sz="1000">
                <a:solidFill>
                  <a:srgbClr val="475569"/>
                </a:solidFill>
                <a:latin typeface="Segoe UI"/>
              </a:defRPr>
            </a:pPr>
            <a:r>
              <a:rPr sz="1250" dirty="0"/>
              <a:t>• Recurring administrative chore reminders &amp; automated follow-ups</a:t>
            </a:r>
          </a:p>
          <a:p>
            <a:pPr>
              <a:spcBef>
                <a:spcPts val="200"/>
              </a:spcBef>
              <a:defRPr sz="1000">
                <a:solidFill>
                  <a:srgbClr val="475569"/>
                </a:solidFill>
                <a:latin typeface="Segoe UI"/>
              </a:defRPr>
            </a:pPr>
            <a:r>
              <a:rPr sz="1250" dirty="0"/>
              <a:t>• Cross-service coordination (Gmail, Calendar, Todo</a:t>
            </a:r>
            <a:r>
              <a:rPr lang="en-IN" sz="1250" dirty="0"/>
              <a:t>l</a:t>
            </a:r>
            <a:r>
              <a:rPr sz="1250" dirty="0" err="1"/>
              <a:t>ist</a:t>
            </a:r>
            <a:r>
              <a:rPr sz="1250" dirty="0"/>
              <a:t>, Slack)</a:t>
            </a:r>
          </a:p>
        </p:txBody>
      </p:sp>
      <p:sp>
        <p:nvSpPr>
          <p:cNvPr id="6" name="Rounded Rectangle 5"/>
          <p:cNvSpPr/>
          <p:nvPr/>
        </p:nvSpPr>
        <p:spPr>
          <a:xfrm>
            <a:off x="6227064" y="1508760"/>
            <a:ext cx="5504688" cy="2057400"/>
          </a:xfrm>
          <a:prstGeom prst="roundRect">
            <a:avLst/>
          </a:prstGeom>
          <a:solidFill>
            <a:srgbClr val="E6FFFA"/>
          </a:solidFill>
          <a:ln w="16510">
            <a:solidFill>
              <a:srgbClr val="0D9488"/>
            </a:solidFill>
          </a:ln>
        </p:spPr>
        <p:style>
          <a:lnRef idx="1">
            <a:schemeClr val="accent1"/>
          </a:lnRef>
          <a:fillRef idx="3">
            <a:schemeClr val="accent1"/>
          </a:fillRef>
          <a:effectRef idx="2">
            <a:schemeClr val="accent1"/>
          </a:effectRef>
          <a:fontRef idx="minor">
            <a:schemeClr val="lt1"/>
          </a:fontRef>
        </p:style>
        <p:txBody>
          <a:bodyPr wrap="square" lIns="182880" tIns="128016" rIns="182880" rtlCol="0" anchor="ctr"/>
          <a:lstStyle/>
          <a:p>
            <a:pPr algn="ctr">
              <a:defRPr sz="1400" b="1">
                <a:solidFill>
                  <a:srgbClr val="0D9488"/>
                </a:solidFill>
                <a:latin typeface="Segoe UI"/>
              </a:defRPr>
            </a:pPr>
            <a:r>
              <a:rPr sz="1250" dirty="0"/>
              <a:t>❖  Study Assistant Mode</a:t>
            </a:r>
          </a:p>
          <a:p>
            <a:pPr>
              <a:defRPr sz="1100" b="1">
                <a:solidFill>
                  <a:srgbClr val="0F172A"/>
                </a:solidFill>
                <a:latin typeface="Segoe UI"/>
              </a:defRPr>
            </a:pPr>
            <a:r>
              <a:rPr sz="1250" dirty="0"/>
              <a:t>Academic Planning &amp; Deadline Mastery</a:t>
            </a:r>
          </a:p>
          <a:p>
            <a:pPr>
              <a:spcBef>
                <a:spcPts val="200"/>
              </a:spcBef>
              <a:defRPr sz="1000">
                <a:solidFill>
                  <a:srgbClr val="475569"/>
                </a:solidFill>
                <a:latin typeface="Segoe UI"/>
              </a:defRPr>
            </a:pPr>
            <a:r>
              <a:rPr sz="1250" dirty="0"/>
              <a:t>• Syllabus &amp; assignment ingestion with automated deadline extraction</a:t>
            </a:r>
          </a:p>
          <a:p>
            <a:pPr>
              <a:spcBef>
                <a:spcPts val="200"/>
              </a:spcBef>
              <a:defRPr sz="1000">
                <a:solidFill>
                  <a:srgbClr val="475569"/>
                </a:solidFill>
                <a:latin typeface="Segoe UI"/>
              </a:defRPr>
            </a:pPr>
            <a:r>
              <a:rPr sz="1250" dirty="0"/>
              <a:t>• Spaced study block scheduling balanced against existing exam loads</a:t>
            </a:r>
          </a:p>
          <a:p>
            <a:pPr>
              <a:spcBef>
                <a:spcPts val="200"/>
              </a:spcBef>
              <a:defRPr sz="1000">
                <a:solidFill>
                  <a:srgbClr val="475569"/>
                </a:solidFill>
                <a:latin typeface="Segoe UI"/>
              </a:defRPr>
            </a:pPr>
            <a:r>
              <a:rPr sz="1250" dirty="0"/>
              <a:t>• Assignment milestone decomposition (Research → Draft → Review)</a:t>
            </a:r>
          </a:p>
          <a:p>
            <a:pPr>
              <a:spcBef>
                <a:spcPts val="200"/>
              </a:spcBef>
              <a:defRPr sz="1000">
                <a:solidFill>
                  <a:srgbClr val="475569"/>
                </a:solidFill>
                <a:latin typeface="Segoe UI"/>
              </a:defRPr>
            </a:pPr>
            <a:r>
              <a:rPr sz="1250" dirty="0"/>
              <a:t>• Staggered academic preparation alerts &amp; study pacing reminders</a:t>
            </a:r>
          </a:p>
        </p:txBody>
      </p:sp>
      <p:sp>
        <p:nvSpPr>
          <p:cNvPr id="7" name="Rounded Rectangle 6"/>
          <p:cNvSpPr/>
          <p:nvPr/>
        </p:nvSpPr>
        <p:spPr>
          <a:xfrm>
            <a:off x="457200" y="3730752"/>
            <a:ext cx="5504688" cy="2057400"/>
          </a:xfrm>
          <a:prstGeom prst="roundRect">
            <a:avLst/>
          </a:prstGeom>
          <a:solidFill>
            <a:srgbClr val="FEF3C7"/>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wrap="square" lIns="182880" tIns="128016" rIns="182880" rtlCol="0" anchor="ctr"/>
          <a:lstStyle/>
          <a:p>
            <a:pPr algn="ctr">
              <a:defRPr sz="1400" b="1">
                <a:solidFill>
                  <a:srgbClr val="B45309"/>
                </a:solidFill>
                <a:latin typeface="Segoe UI"/>
              </a:defRPr>
            </a:pPr>
            <a:r>
              <a:rPr sz="1250" dirty="0"/>
              <a:t>❖  Wellness Companion Mode</a:t>
            </a:r>
          </a:p>
          <a:p>
            <a:pPr>
              <a:defRPr sz="1100" b="1">
                <a:solidFill>
                  <a:srgbClr val="0F172A"/>
                </a:solidFill>
                <a:latin typeface="Segoe UI"/>
              </a:defRPr>
            </a:pPr>
            <a:r>
              <a:rPr sz="1250" dirty="0"/>
              <a:t>Sustainable Cadence &amp; Habit Routines</a:t>
            </a:r>
          </a:p>
          <a:p>
            <a:pPr>
              <a:spcBef>
                <a:spcPts val="200"/>
              </a:spcBef>
              <a:defRPr sz="1000">
                <a:solidFill>
                  <a:srgbClr val="475569"/>
                </a:solidFill>
                <a:latin typeface="Segoe UI"/>
              </a:defRPr>
            </a:pPr>
            <a:r>
              <a:rPr sz="1250" dirty="0"/>
              <a:t>• Daily work-rest rhythm optimization to prevent burnout</a:t>
            </a:r>
          </a:p>
          <a:p>
            <a:pPr>
              <a:spcBef>
                <a:spcPts val="200"/>
              </a:spcBef>
              <a:defRPr sz="1000">
                <a:solidFill>
                  <a:srgbClr val="475569"/>
                </a:solidFill>
                <a:latin typeface="Segoe UI"/>
              </a:defRPr>
            </a:pPr>
            <a:r>
              <a:rPr sz="1250" dirty="0"/>
              <a:t>• Hydration, posture, and screen-break reminders during deep work</a:t>
            </a:r>
          </a:p>
          <a:p>
            <a:pPr>
              <a:spcBef>
                <a:spcPts val="200"/>
              </a:spcBef>
              <a:defRPr sz="1000">
                <a:solidFill>
                  <a:srgbClr val="475569"/>
                </a:solidFill>
                <a:latin typeface="Segoe UI"/>
              </a:defRPr>
            </a:pPr>
            <a:r>
              <a:rPr sz="1250" dirty="0"/>
              <a:t>• Routine consistency tracking (sleep windows, workouts, meals)</a:t>
            </a:r>
          </a:p>
          <a:p>
            <a:pPr>
              <a:spcBef>
                <a:spcPts val="200"/>
              </a:spcBef>
              <a:defRPr sz="1000">
                <a:solidFill>
                  <a:srgbClr val="475569"/>
                </a:solidFill>
                <a:latin typeface="Segoe UI"/>
              </a:defRPr>
            </a:pPr>
            <a:r>
              <a:rPr sz="1250" dirty="0"/>
              <a:t>• Strictly non-clinical lifestyle organization (Zero medical claims)</a:t>
            </a:r>
          </a:p>
        </p:txBody>
      </p:sp>
      <p:sp>
        <p:nvSpPr>
          <p:cNvPr id="8" name="Rounded Rectangle 7"/>
          <p:cNvSpPr/>
          <p:nvPr/>
        </p:nvSpPr>
        <p:spPr>
          <a:xfrm>
            <a:off x="6227064" y="3730752"/>
            <a:ext cx="5504688" cy="2057400"/>
          </a:xfrm>
          <a:prstGeom prst="roundRect">
            <a:avLst/>
          </a:prstGeom>
          <a:solidFill>
            <a:srgbClr val="F1F5F9"/>
          </a:solidFill>
          <a:ln w="16510">
            <a:solidFill>
              <a:srgbClr val="475569"/>
            </a:solidFill>
          </a:ln>
        </p:spPr>
        <p:style>
          <a:lnRef idx="1">
            <a:schemeClr val="accent1"/>
          </a:lnRef>
          <a:fillRef idx="3">
            <a:schemeClr val="accent1"/>
          </a:fillRef>
          <a:effectRef idx="2">
            <a:schemeClr val="accent1"/>
          </a:effectRef>
          <a:fontRef idx="minor">
            <a:schemeClr val="lt1"/>
          </a:fontRef>
        </p:style>
        <p:txBody>
          <a:bodyPr wrap="square" lIns="182880" tIns="128016" rIns="182880" rtlCol="0" anchor="ctr"/>
          <a:lstStyle/>
          <a:p>
            <a:pPr algn="ctr">
              <a:defRPr sz="1400" b="1">
                <a:solidFill>
                  <a:srgbClr val="475569"/>
                </a:solidFill>
                <a:latin typeface="Segoe UI"/>
              </a:defRPr>
            </a:pPr>
            <a:r>
              <a:rPr sz="1250" dirty="0"/>
              <a:t>❖  Caretaker Mode</a:t>
            </a:r>
          </a:p>
          <a:p>
            <a:pPr>
              <a:defRPr sz="1100" b="1">
                <a:solidFill>
                  <a:srgbClr val="0F172A"/>
                </a:solidFill>
                <a:latin typeface="Segoe UI"/>
              </a:defRPr>
            </a:pPr>
            <a:r>
              <a:rPr sz="1250" dirty="0"/>
              <a:t>Family &amp; Recurring Responsibility Coordination</a:t>
            </a:r>
          </a:p>
          <a:p>
            <a:pPr>
              <a:spcBef>
                <a:spcPts val="200"/>
              </a:spcBef>
              <a:defRPr sz="1000">
                <a:solidFill>
                  <a:srgbClr val="475569"/>
                </a:solidFill>
                <a:latin typeface="Segoe UI"/>
              </a:defRPr>
            </a:pPr>
            <a:r>
              <a:rPr sz="1250" dirty="0"/>
              <a:t>• Coordination for family schedules, appointments &amp; shared logistics</a:t>
            </a:r>
          </a:p>
          <a:p>
            <a:pPr>
              <a:spcBef>
                <a:spcPts val="200"/>
              </a:spcBef>
              <a:defRPr sz="1000">
                <a:solidFill>
                  <a:srgbClr val="475569"/>
                </a:solidFill>
                <a:latin typeface="Segoe UI"/>
              </a:defRPr>
            </a:pPr>
            <a:r>
              <a:rPr sz="1250" dirty="0"/>
              <a:t>• Household maintenance schedules &amp; recurring service reminders</a:t>
            </a:r>
          </a:p>
          <a:p>
            <a:pPr>
              <a:spcBef>
                <a:spcPts val="200"/>
              </a:spcBef>
              <a:defRPr sz="1000">
                <a:solidFill>
                  <a:srgbClr val="475569"/>
                </a:solidFill>
                <a:latin typeface="Segoe UI"/>
              </a:defRPr>
            </a:pPr>
            <a:r>
              <a:rPr sz="1250" dirty="0"/>
              <a:t>• Time-sensitive medication timing reminders (logistics only)</a:t>
            </a:r>
          </a:p>
          <a:p>
            <a:pPr>
              <a:spcBef>
                <a:spcPts val="200"/>
              </a:spcBef>
              <a:defRPr sz="1000">
                <a:solidFill>
                  <a:srgbClr val="475569"/>
                </a:solidFill>
                <a:latin typeface="Segoe UI"/>
              </a:defRPr>
            </a:pPr>
            <a:r>
              <a:rPr sz="1250" dirty="0"/>
              <a:t>• Centralized coordination log for multi-stakeholder commitments</a:t>
            </a:r>
          </a:p>
        </p:txBody>
      </p:sp>
      <p:sp>
        <p:nvSpPr>
          <p:cNvPr id="9" name="Rounded Rectangle 8"/>
          <p:cNvSpPr/>
          <p:nvPr/>
        </p:nvSpPr>
        <p:spPr>
          <a:xfrm>
            <a:off x="457200" y="5806440"/>
            <a:ext cx="11274552" cy="6400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201168" tIns="91440" rtlCol="0" anchor="ctr"/>
          <a:lstStyle/>
          <a:p>
            <a:pPr algn="ctr">
              <a:defRPr sz="1050" b="1">
                <a:solidFill>
                  <a:srgbClr val="0284C7"/>
                </a:solidFill>
                <a:latin typeface="Segoe UI"/>
              </a:defRPr>
            </a:pPr>
            <a:r>
              <a:rPr sz="1200" dirty="0"/>
              <a:t>CORE ARCHITECTURAL PRINCIPLE: SHARED CONTEXT, DEDICATED WORKFLOWS</a:t>
            </a:r>
          </a:p>
          <a:p>
            <a:pPr>
              <a:spcBef>
                <a:spcPts val="100"/>
              </a:spcBef>
              <a:defRPr sz="1000">
                <a:solidFill>
                  <a:srgbClr val="475569"/>
                </a:solidFill>
                <a:latin typeface="Segoe UI"/>
              </a:defRPr>
            </a:pPr>
            <a:r>
              <a:rPr sz="1200" dirty="0"/>
              <a:t>These modes are NOT separate siloed bots. They share the same PostgreSQL memory, user preferences, and n8n backbone. Switching modes simply dynamically applies specialized prompt schemas and conditional n8n execution triggers.</a:t>
            </a:r>
          </a:p>
        </p:txBody>
      </p:sp>
      <p:sp>
        <p:nvSpPr>
          <p:cNvPr id="10" name="TextBox 9"/>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7 of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GOVERNANCE &amp; SAFETY</a:t>
            </a:r>
          </a:p>
        </p:txBody>
      </p:sp>
      <p:sp>
        <p:nvSpPr>
          <p:cNvPr id="4" name="TextBox 3"/>
          <p:cNvSpPr txBox="1"/>
          <p:nvPr/>
        </p:nvSpPr>
        <p:spPr>
          <a:xfrm>
            <a:off x="467032" y="640080"/>
            <a:ext cx="11274552" cy="777240"/>
          </a:xfrm>
          <a:prstGeom prst="rect">
            <a:avLst/>
          </a:prstGeom>
          <a:noFill/>
        </p:spPr>
        <p:txBody>
          <a:bodyPr wrap="square" lIns="0" tIns="0" rIns="0" bIns="0">
            <a:spAutoFit/>
          </a:bodyPr>
          <a:lstStyle/>
          <a:p>
            <a:pPr>
              <a:defRPr sz="2600" b="1">
                <a:solidFill>
                  <a:srgbClr val="0F172A"/>
                </a:solidFill>
                <a:latin typeface="Segoe UI"/>
              </a:defRPr>
            </a:pPr>
            <a:r>
              <a:t>Memory, Personalization &amp; User Control</a:t>
            </a:r>
          </a:p>
          <a:p>
            <a:pPr>
              <a:spcBef>
                <a:spcPts val="200"/>
              </a:spcBef>
              <a:defRPr sz="1350">
                <a:solidFill>
                  <a:srgbClr val="475569"/>
                </a:solidFill>
                <a:latin typeface="Segoe UI"/>
              </a:defRPr>
            </a:pPr>
            <a:r>
              <a:t>Grounded in persistent state with strict safety gates, human-in-the-loop approvals, and full auditability</a:t>
            </a:r>
          </a:p>
        </p:txBody>
      </p:sp>
      <p:sp>
        <p:nvSpPr>
          <p:cNvPr id="5" name="Rounded Rectangle 4"/>
          <p:cNvSpPr/>
          <p:nvPr/>
        </p:nvSpPr>
        <p:spPr>
          <a:xfrm>
            <a:off x="457200" y="1508760"/>
            <a:ext cx="3584448"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0284C7"/>
                </a:solidFill>
                <a:latin typeface="Segoe UI"/>
              </a:defRPr>
            </a:pPr>
            <a:r>
              <a:rPr sz="1350" dirty="0"/>
              <a:t>1. Persistent Memory &amp; State</a:t>
            </a:r>
          </a:p>
          <a:p>
            <a:pPr>
              <a:spcBef>
                <a:spcPts val="200"/>
              </a:spcBef>
              <a:defRPr sz="1050">
                <a:solidFill>
                  <a:srgbClr val="475569"/>
                </a:solidFill>
                <a:latin typeface="Segoe UI"/>
              </a:defRPr>
            </a:pPr>
            <a:r>
              <a:rPr sz="1350" dirty="0"/>
              <a:t>PostgreSQL / </a:t>
            </a:r>
            <a:r>
              <a:rPr sz="1350" dirty="0" err="1"/>
              <a:t>Supabase</a:t>
            </a:r>
            <a:r>
              <a:rPr sz="1350" dirty="0"/>
              <a:t> stores:</a:t>
            </a:r>
          </a:p>
          <a:p>
            <a:pPr>
              <a:spcBef>
                <a:spcPts val="500"/>
              </a:spcBef>
              <a:defRPr sz="1000" b="1">
                <a:solidFill>
                  <a:srgbClr val="0F172A"/>
                </a:solidFill>
                <a:latin typeface="Segoe UI"/>
              </a:defRPr>
            </a:pPr>
            <a:r>
              <a:rPr sz="1350" dirty="0"/>
              <a:t>• User Preferences: </a:t>
            </a:r>
            <a:r>
              <a:rPr sz="1350" b="0" dirty="0">
                <a:solidFill>
                  <a:srgbClr val="475569"/>
                </a:solidFill>
              </a:rPr>
              <a:t>Preferred study times, break intervals, working hours.</a:t>
            </a:r>
          </a:p>
          <a:p>
            <a:pPr>
              <a:spcBef>
                <a:spcPts val="500"/>
              </a:spcBef>
              <a:defRPr sz="1000" b="1">
                <a:solidFill>
                  <a:srgbClr val="0F172A"/>
                </a:solidFill>
                <a:latin typeface="Segoe UI"/>
              </a:defRPr>
            </a:pPr>
            <a:r>
              <a:rPr sz="1350" dirty="0"/>
              <a:t>• Task &amp; Deadline Registry: </a:t>
            </a:r>
            <a:r>
              <a:rPr sz="1350" b="0" dirty="0">
                <a:solidFill>
                  <a:srgbClr val="475569"/>
                </a:solidFill>
              </a:rPr>
              <a:t>Current active backlog with priority scores.</a:t>
            </a:r>
          </a:p>
          <a:p>
            <a:pPr>
              <a:spcBef>
                <a:spcPts val="500"/>
              </a:spcBef>
              <a:defRPr sz="1000" b="1">
                <a:solidFill>
                  <a:srgbClr val="0F172A"/>
                </a:solidFill>
                <a:latin typeface="Segoe UI"/>
              </a:defRPr>
            </a:pPr>
            <a:r>
              <a:rPr sz="1350" dirty="0"/>
              <a:t>• Routines &amp; Habits: </a:t>
            </a:r>
            <a:r>
              <a:rPr sz="1350" b="0" dirty="0">
                <a:solidFill>
                  <a:srgbClr val="475569"/>
                </a:solidFill>
              </a:rPr>
              <a:t>Recurring commitments and recurring goals.</a:t>
            </a:r>
          </a:p>
          <a:p>
            <a:pPr>
              <a:spcBef>
                <a:spcPts val="500"/>
              </a:spcBef>
              <a:defRPr sz="1000" b="1">
                <a:solidFill>
                  <a:srgbClr val="0F172A"/>
                </a:solidFill>
                <a:latin typeface="Segoe UI"/>
              </a:defRPr>
            </a:pPr>
            <a:r>
              <a:rPr sz="1350" dirty="0"/>
              <a:t>• Calendar Twin State: </a:t>
            </a:r>
            <a:r>
              <a:rPr sz="1350" b="0" dirty="0">
                <a:solidFill>
                  <a:srgbClr val="475569"/>
                </a:solidFill>
              </a:rPr>
              <a:t>Cached sync of Google Calendar to detect collisions.</a:t>
            </a:r>
          </a:p>
          <a:p>
            <a:pPr>
              <a:spcBef>
                <a:spcPts val="500"/>
              </a:spcBef>
              <a:defRPr sz="1000" b="1">
                <a:solidFill>
                  <a:srgbClr val="0F172A"/>
                </a:solidFill>
                <a:latin typeface="Segoe UI"/>
              </a:defRPr>
            </a:pPr>
            <a:r>
              <a:rPr sz="1350" dirty="0"/>
              <a:t>• Execution History: </a:t>
            </a:r>
            <a:r>
              <a:rPr sz="1350" b="0" dirty="0">
                <a:solidFill>
                  <a:srgbClr val="475569"/>
                </a:solidFill>
              </a:rPr>
              <a:t>Log of completed workflows and past decisions.</a:t>
            </a:r>
          </a:p>
          <a:p>
            <a:pPr>
              <a:spcBef>
                <a:spcPts val="1200"/>
              </a:spcBef>
              <a:defRPr sz="1000" i="1">
                <a:solidFill>
                  <a:srgbClr val="0D9488"/>
                </a:solidFill>
                <a:latin typeface="Segoe UI"/>
              </a:defRPr>
            </a:pPr>
            <a:r>
              <a:rPr sz="1350" dirty="0"/>
              <a:t>Benefit: No stateless amnesia. OPHELIA compounds context over time.</a:t>
            </a:r>
          </a:p>
        </p:txBody>
      </p:sp>
      <p:sp>
        <p:nvSpPr>
          <p:cNvPr id="6" name="Rounded Rectangle 5"/>
          <p:cNvSpPr/>
          <p:nvPr/>
        </p:nvSpPr>
        <p:spPr>
          <a:xfrm>
            <a:off x="4297680" y="1508760"/>
            <a:ext cx="3584448"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0D9488"/>
                </a:solidFill>
                <a:latin typeface="Segoe UI"/>
              </a:defRPr>
            </a:pPr>
            <a:r>
              <a:t>2. Dual-Tier User Governance</a:t>
            </a:r>
          </a:p>
          <a:p>
            <a:pPr>
              <a:spcBef>
                <a:spcPts val="200"/>
              </a:spcBef>
              <a:defRPr sz="1050">
                <a:solidFill>
                  <a:srgbClr val="475569"/>
                </a:solidFill>
                <a:latin typeface="Segoe UI"/>
              </a:defRPr>
            </a:pPr>
            <a:r>
              <a:t>Not every action is executed blindly:</a:t>
            </a:r>
          </a:p>
        </p:txBody>
      </p:sp>
      <p:sp>
        <p:nvSpPr>
          <p:cNvPr id="7" name="Rounded Rectangle 6"/>
          <p:cNvSpPr/>
          <p:nvPr/>
        </p:nvSpPr>
        <p:spPr>
          <a:xfrm>
            <a:off x="4434840" y="1918765"/>
            <a:ext cx="3310128" cy="1783080"/>
          </a:xfrm>
          <a:prstGeom prst="roundRect">
            <a:avLst/>
          </a:prstGeom>
          <a:solidFill>
            <a:srgbClr val="F0FDF4"/>
          </a:solidFill>
          <a:ln>
            <a:solidFill>
              <a:srgbClr val="86EFAC"/>
            </a:solidFill>
          </a:ln>
        </p:spPr>
        <p:style>
          <a:lnRef idx="1">
            <a:schemeClr val="accent1"/>
          </a:lnRef>
          <a:fillRef idx="3">
            <a:schemeClr val="accent1"/>
          </a:fillRef>
          <a:effectRef idx="2">
            <a:schemeClr val="accent1"/>
          </a:effectRef>
          <a:fontRef idx="minor">
            <a:schemeClr val="lt1"/>
          </a:fontRef>
        </p:style>
        <p:txBody>
          <a:bodyPr wrap="square" lIns="128016" tIns="91440" rIns="128016" rtlCol="0" anchor="ctr"/>
          <a:lstStyle/>
          <a:p>
            <a:pPr algn="ctr">
              <a:defRPr sz="1050" b="1">
                <a:solidFill>
                  <a:srgbClr val="166534"/>
                </a:solidFill>
                <a:latin typeface="Segoe UI"/>
              </a:defRPr>
            </a:pPr>
            <a:r>
              <a:rPr sz="1200" dirty="0"/>
              <a:t>✔ LOW-RISK (Fully Autonomous)</a:t>
            </a:r>
          </a:p>
          <a:p>
            <a:pPr>
              <a:spcBef>
                <a:spcPts val="200"/>
              </a:spcBef>
              <a:defRPr sz="950">
                <a:solidFill>
                  <a:srgbClr val="0F172A"/>
                </a:solidFill>
                <a:latin typeface="Segoe UI"/>
              </a:defRPr>
            </a:pPr>
            <a:r>
              <a:rPr sz="1200" dirty="0"/>
              <a:t>• Creating personal reminder notifications</a:t>
            </a:r>
          </a:p>
          <a:p>
            <a:pPr>
              <a:spcBef>
                <a:spcPts val="200"/>
              </a:spcBef>
              <a:defRPr sz="950">
                <a:solidFill>
                  <a:srgbClr val="0F172A"/>
                </a:solidFill>
                <a:latin typeface="Segoe UI"/>
              </a:defRPr>
            </a:pPr>
            <a:r>
              <a:rPr sz="1200" dirty="0"/>
              <a:t>• Inserting non-conflicting study blocks</a:t>
            </a:r>
          </a:p>
          <a:p>
            <a:pPr>
              <a:spcBef>
                <a:spcPts val="200"/>
              </a:spcBef>
              <a:defRPr sz="950">
                <a:solidFill>
                  <a:srgbClr val="0F172A"/>
                </a:solidFill>
                <a:latin typeface="Segoe UI"/>
              </a:defRPr>
            </a:pPr>
            <a:r>
              <a:rPr sz="1200" dirty="0"/>
              <a:t>• Drafting task lists &amp; checklist items</a:t>
            </a:r>
          </a:p>
          <a:p>
            <a:pPr>
              <a:spcBef>
                <a:spcPts val="200"/>
              </a:spcBef>
              <a:defRPr sz="950">
                <a:solidFill>
                  <a:srgbClr val="0F172A"/>
                </a:solidFill>
                <a:latin typeface="Segoe UI"/>
              </a:defRPr>
            </a:pPr>
            <a:r>
              <a:rPr sz="1200" dirty="0"/>
              <a:t>• Organizing incoming unstructured notes</a:t>
            </a:r>
          </a:p>
        </p:txBody>
      </p:sp>
      <p:sp>
        <p:nvSpPr>
          <p:cNvPr id="8" name="Rounded Rectangle 7"/>
          <p:cNvSpPr/>
          <p:nvPr/>
        </p:nvSpPr>
        <p:spPr>
          <a:xfrm>
            <a:off x="4434840" y="4251960"/>
            <a:ext cx="3310128" cy="1965960"/>
          </a:xfrm>
          <a:prstGeom prst="roundRect">
            <a:avLst/>
          </a:prstGeom>
          <a:solidFill>
            <a:srgbClr val="FEF3C7"/>
          </a:solidFill>
          <a:ln>
            <a:solidFill>
              <a:srgbClr val="FCD34D"/>
            </a:solidFill>
          </a:ln>
        </p:spPr>
        <p:style>
          <a:lnRef idx="1">
            <a:schemeClr val="accent1"/>
          </a:lnRef>
          <a:fillRef idx="3">
            <a:schemeClr val="accent1"/>
          </a:fillRef>
          <a:effectRef idx="2">
            <a:schemeClr val="accent1"/>
          </a:effectRef>
          <a:fontRef idx="minor">
            <a:schemeClr val="lt1"/>
          </a:fontRef>
        </p:style>
        <p:txBody>
          <a:bodyPr wrap="square" lIns="128016" tIns="91440" rIns="128016" rtlCol="0" anchor="ctr"/>
          <a:lstStyle/>
          <a:p>
            <a:pPr algn="ctr">
              <a:defRPr sz="1050" b="1">
                <a:solidFill>
                  <a:srgbClr val="92400E"/>
                </a:solidFill>
                <a:latin typeface="Segoe UI"/>
              </a:defRPr>
            </a:pPr>
            <a:r>
              <a:rPr sz="1200" dirty="0"/>
              <a:t>⚠️ HIGH-IMPACT (Approval Required)</a:t>
            </a:r>
          </a:p>
          <a:p>
            <a:pPr>
              <a:spcBef>
                <a:spcPts val="200"/>
              </a:spcBef>
              <a:defRPr sz="950">
                <a:solidFill>
                  <a:srgbClr val="0F172A"/>
                </a:solidFill>
                <a:latin typeface="Segoe UI"/>
              </a:defRPr>
            </a:pPr>
            <a:r>
              <a:rPr sz="1200" dirty="0"/>
              <a:t>• Sending external emails or communications</a:t>
            </a:r>
          </a:p>
          <a:p>
            <a:pPr>
              <a:spcBef>
                <a:spcPts val="200"/>
              </a:spcBef>
              <a:defRPr sz="950">
                <a:solidFill>
                  <a:srgbClr val="0F172A"/>
                </a:solidFill>
                <a:latin typeface="Segoe UI"/>
              </a:defRPr>
            </a:pPr>
            <a:r>
              <a:rPr sz="1200" dirty="0"/>
              <a:t>• Rescheduling existing client/work meetings</a:t>
            </a:r>
          </a:p>
          <a:p>
            <a:pPr>
              <a:spcBef>
                <a:spcPts val="200"/>
              </a:spcBef>
              <a:defRPr sz="950">
                <a:solidFill>
                  <a:srgbClr val="0F172A"/>
                </a:solidFill>
                <a:latin typeface="Segoe UI"/>
              </a:defRPr>
            </a:pPr>
            <a:r>
              <a:rPr sz="1200" dirty="0"/>
              <a:t>• Overwriting or deleting calendar events</a:t>
            </a:r>
          </a:p>
          <a:p>
            <a:pPr>
              <a:spcBef>
                <a:spcPts val="200"/>
              </a:spcBef>
              <a:defRPr sz="950">
                <a:solidFill>
                  <a:srgbClr val="0F172A"/>
                </a:solidFill>
                <a:latin typeface="Segoe UI"/>
              </a:defRPr>
            </a:pPr>
            <a:r>
              <a:rPr sz="1200" dirty="0"/>
              <a:t>• Actions modifying sensitive external data</a:t>
            </a:r>
          </a:p>
        </p:txBody>
      </p:sp>
      <p:sp>
        <p:nvSpPr>
          <p:cNvPr id="9" name="Rounded Rectangle 8"/>
          <p:cNvSpPr/>
          <p:nvPr/>
        </p:nvSpPr>
        <p:spPr>
          <a:xfrm>
            <a:off x="8138160" y="1508760"/>
            <a:ext cx="3584448"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0F172A"/>
                </a:solidFill>
                <a:latin typeface="Segoe UI"/>
              </a:defRPr>
            </a:pPr>
            <a:r>
              <a:t>3. Audit Log &amp; Transparency</a:t>
            </a:r>
          </a:p>
          <a:p>
            <a:pPr>
              <a:spcBef>
                <a:spcPts val="200"/>
              </a:spcBef>
              <a:defRPr sz="1050">
                <a:solidFill>
                  <a:srgbClr val="475569"/>
                </a:solidFill>
                <a:latin typeface="Segoe UI"/>
              </a:defRPr>
            </a:pPr>
            <a:r>
              <a:t>Every n8n execution creates an auditable record:</a:t>
            </a:r>
          </a:p>
        </p:txBody>
      </p:sp>
      <p:sp>
        <p:nvSpPr>
          <p:cNvPr id="10" name="Rounded Rectangle 9"/>
          <p:cNvSpPr/>
          <p:nvPr/>
        </p:nvSpPr>
        <p:spPr>
          <a:xfrm>
            <a:off x="8275320" y="2331720"/>
            <a:ext cx="3310128" cy="3886200"/>
          </a:xfrm>
          <a:prstGeom prst="roundRect">
            <a:avLst/>
          </a:prstGeom>
          <a:solidFill>
            <a:srgbClr val="0B11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ctr">
              <a:defRPr sz="880" b="1">
                <a:solidFill>
                  <a:srgbClr val="38BDF8"/>
                </a:solidFill>
                <a:latin typeface="Consolas"/>
              </a:defRPr>
            </a:pPr>
            <a:r>
              <a:rPr sz="1100" dirty="0"/>
              <a:t>[10:14:02] REASONING TRACE</a:t>
            </a:r>
          </a:p>
          <a:p>
            <a:pPr>
              <a:defRPr sz="880" b="0">
                <a:solidFill>
                  <a:srgbClr val="94A3B8"/>
                </a:solidFill>
                <a:latin typeface="Consolas"/>
              </a:defRPr>
            </a:pPr>
            <a:r>
              <a:rPr sz="1100" dirty="0"/>
              <a:t>Detected conflict: </a:t>
            </a:r>
            <a:r>
              <a:rPr sz="1100" dirty="0" err="1"/>
              <a:t>GCal</a:t>
            </a:r>
            <a:r>
              <a:rPr sz="1100" dirty="0"/>
              <a:t> ID #819</a:t>
            </a:r>
          </a:p>
          <a:p>
            <a:pPr>
              <a:defRPr sz="880" b="0">
                <a:solidFill>
                  <a:srgbClr val="94A3B8"/>
                </a:solidFill>
                <a:latin typeface="Consolas"/>
              </a:defRPr>
            </a:pPr>
            <a:r>
              <a:rPr sz="1100" dirty="0"/>
              <a:t>Generated plan: Shift to 19:00</a:t>
            </a:r>
          </a:p>
          <a:p>
            <a:pPr>
              <a:defRPr sz="880" b="0">
                <a:solidFill>
                  <a:srgbClr val="FBBF24"/>
                </a:solidFill>
                <a:latin typeface="Consolas"/>
              </a:defRPr>
            </a:pPr>
            <a:r>
              <a:rPr sz="1100" dirty="0"/>
              <a:t>Safety check: Approval Required</a:t>
            </a:r>
          </a:p>
          <a:p>
            <a:pPr>
              <a:defRPr sz="880" b="0">
                <a:solidFill>
                  <a:srgbClr val="94A3B8"/>
                </a:solidFill>
                <a:latin typeface="Consolas"/>
              </a:defRPr>
            </a:pPr>
            <a:endParaRPr sz="1100" dirty="0"/>
          </a:p>
          <a:p>
            <a:pPr>
              <a:defRPr sz="880" b="1">
                <a:solidFill>
                  <a:srgbClr val="34D399"/>
                </a:solidFill>
                <a:latin typeface="Consolas"/>
              </a:defRPr>
            </a:pPr>
            <a:r>
              <a:rPr sz="1100" dirty="0"/>
              <a:t>[10:14:15] USER ACTION</a:t>
            </a:r>
          </a:p>
          <a:p>
            <a:pPr>
              <a:defRPr sz="880" b="0">
                <a:solidFill>
                  <a:srgbClr val="F1F5F9"/>
                </a:solidFill>
                <a:latin typeface="Consolas"/>
              </a:defRPr>
            </a:pPr>
            <a:r>
              <a:rPr sz="1100" dirty="0"/>
              <a:t>User approved recommendation</a:t>
            </a:r>
          </a:p>
          <a:p>
            <a:pPr>
              <a:defRPr sz="880" b="0">
                <a:solidFill>
                  <a:srgbClr val="94A3B8"/>
                </a:solidFill>
                <a:latin typeface="Consolas"/>
              </a:defRPr>
            </a:pPr>
            <a:endParaRPr sz="1100" dirty="0"/>
          </a:p>
          <a:p>
            <a:pPr>
              <a:defRPr sz="880" b="1">
                <a:solidFill>
                  <a:srgbClr val="38BDF8"/>
                </a:solidFill>
                <a:latin typeface="Consolas"/>
              </a:defRPr>
            </a:pPr>
            <a:r>
              <a:rPr sz="1100" dirty="0"/>
              <a:t>[10:14:16] n8n DISPATCH</a:t>
            </a:r>
          </a:p>
          <a:p>
            <a:pPr>
              <a:defRPr sz="880" b="0">
                <a:solidFill>
                  <a:srgbClr val="F1F5F9"/>
                </a:solidFill>
                <a:latin typeface="Consolas"/>
              </a:defRPr>
            </a:pPr>
            <a:r>
              <a:rPr sz="1100" dirty="0"/>
              <a:t>POST /webhook/reschedule-event</a:t>
            </a:r>
          </a:p>
          <a:p>
            <a:pPr>
              <a:defRPr sz="880" b="0">
                <a:solidFill>
                  <a:srgbClr val="34D399"/>
                </a:solidFill>
                <a:latin typeface="Consolas"/>
              </a:defRPr>
            </a:pPr>
            <a:r>
              <a:rPr sz="1100" dirty="0"/>
              <a:t>HTTP 200: </a:t>
            </a:r>
            <a:r>
              <a:rPr sz="1100" dirty="0" err="1"/>
              <a:t>GCal</a:t>
            </a:r>
            <a:r>
              <a:rPr sz="1100" dirty="0"/>
              <a:t> updated</a:t>
            </a:r>
          </a:p>
          <a:p>
            <a:pPr>
              <a:defRPr sz="880" b="0">
                <a:solidFill>
                  <a:srgbClr val="F1F5F9"/>
                </a:solidFill>
                <a:latin typeface="Consolas"/>
              </a:defRPr>
            </a:pPr>
            <a:r>
              <a:rPr sz="1100" dirty="0"/>
              <a:t>Task ID #409 inserted in DB</a:t>
            </a:r>
          </a:p>
          <a:p>
            <a:pPr>
              <a:defRPr sz="880" b="0">
                <a:solidFill>
                  <a:srgbClr val="94A3B8"/>
                </a:solidFill>
                <a:latin typeface="Consolas"/>
              </a:defRPr>
            </a:pPr>
            <a:endParaRPr sz="1100" dirty="0"/>
          </a:p>
          <a:p>
            <a:pPr>
              <a:defRPr sz="880" b="1">
                <a:solidFill>
                  <a:srgbClr val="34D399"/>
                </a:solidFill>
                <a:latin typeface="Consolas"/>
              </a:defRPr>
            </a:pPr>
            <a:r>
              <a:rPr sz="1100" dirty="0"/>
              <a:t>[10:14:17] STATE SYNCHRONIZED</a:t>
            </a:r>
          </a:p>
          <a:p>
            <a:pPr>
              <a:defRPr sz="880" b="0">
                <a:solidFill>
                  <a:srgbClr val="94A3B8"/>
                </a:solidFill>
                <a:latin typeface="Consolas"/>
              </a:defRPr>
            </a:pPr>
            <a:r>
              <a:rPr sz="1100" dirty="0"/>
              <a:t>Dashboard updated. Rollback available.</a:t>
            </a:r>
          </a:p>
        </p:txBody>
      </p:sp>
      <p:sp>
        <p:nvSpPr>
          <p:cNvPr id="11" name="TextBox 10"/>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8 of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HACKATHON SCOPE &amp; FEASIBILITY</a:t>
            </a:r>
          </a:p>
        </p:txBody>
      </p:sp>
      <p:sp>
        <p:nvSpPr>
          <p:cNvPr id="4" name="TextBox 3"/>
          <p:cNvSpPr txBox="1"/>
          <p:nvPr/>
        </p:nvSpPr>
        <p:spPr>
          <a:xfrm>
            <a:off x="457200" y="640080"/>
            <a:ext cx="11274552" cy="777240"/>
          </a:xfrm>
          <a:prstGeom prst="rect">
            <a:avLst/>
          </a:prstGeom>
          <a:noFill/>
        </p:spPr>
        <p:txBody>
          <a:bodyPr wrap="square" lIns="0" tIns="0" rIns="0" bIns="0">
            <a:spAutoFit/>
          </a:bodyPr>
          <a:lstStyle/>
          <a:p>
            <a:pPr>
              <a:defRPr sz="2600" b="1">
                <a:solidFill>
                  <a:srgbClr val="0F172A"/>
                </a:solidFill>
                <a:latin typeface="Segoe UI"/>
              </a:defRPr>
            </a:pPr>
            <a:r>
              <a:t>What We Will Actually Build (Hackathon MVP)</a:t>
            </a:r>
          </a:p>
          <a:p>
            <a:pPr>
              <a:spcBef>
                <a:spcPts val="200"/>
              </a:spcBef>
              <a:defRPr sz="1350">
                <a:solidFill>
                  <a:srgbClr val="475569"/>
                </a:solidFill>
                <a:latin typeface="Segoe UI"/>
              </a:defRPr>
            </a:pPr>
            <a:r>
              <a:t>A tightly scoped, technically convincing implementation connecting Next.js, LLM reasoning, and n8n</a:t>
            </a:r>
          </a:p>
        </p:txBody>
      </p:sp>
      <p:sp>
        <p:nvSpPr>
          <p:cNvPr id="5" name="Rounded Rectangle 4"/>
          <p:cNvSpPr/>
          <p:nvPr/>
        </p:nvSpPr>
        <p:spPr>
          <a:xfrm>
            <a:off x="457200" y="1508760"/>
            <a:ext cx="2651760" cy="3291840"/>
          </a:xfrm>
          <a:prstGeom prst="roundRect">
            <a:avLst/>
          </a:prstGeom>
          <a:solidFill>
            <a:srgbClr val="E0F2FE"/>
          </a:solidFill>
          <a:ln w="16510">
            <a:solidFill>
              <a:srgbClr val="0369A1"/>
            </a:solidFill>
          </a:ln>
        </p:spPr>
        <p:style>
          <a:lnRef idx="1">
            <a:schemeClr val="accent1"/>
          </a:lnRef>
          <a:fillRef idx="3">
            <a:schemeClr val="accent1"/>
          </a:fillRef>
          <a:effectRef idx="2">
            <a:schemeClr val="accent1"/>
          </a:effectRef>
          <a:fontRef idx="minor">
            <a:schemeClr val="lt1"/>
          </a:fontRef>
        </p:style>
        <p:txBody>
          <a:bodyPr wrap="square" lIns="146304" tIns="146304" rIns="146304" rtlCol="0" anchor="ctr"/>
          <a:lstStyle/>
          <a:p>
            <a:pPr algn="ctr">
              <a:defRPr sz="1300" b="1">
                <a:solidFill>
                  <a:srgbClr val="0369A1"/>
                </a:solidFill>
                <a:latin typeface="Segoe UI"/>
              </a:defRPr>
            </a:pPr>
            <a:r>
              <a:rPr sz="1300" dirty="0"/>
              <a:t>1. AI Personal Dashboard</a:t>
            </a:r>
          </a:p>
          <a:p>
            <a:pPr>
              <a:defRPr sz="1000" b="1">
                <a:solidFill>
                  <a:srgbClr val="0F172A"/>
                </a:solidFill>
                <a:latin typeface="Segoe UI"/>
              </a:defRPr>
            </a:pPr>
            <a:r>
              <a:rPr sz="1300" dirty="0"/>
              <a:t>Next.js / React Web App</a:t>
            </a:r>
          </a:p>
          <a:p>
            <a:pPr>
              <a:spcBef>
                <a:spcPts val="300"/>
              </a:spcBef>
              <a:defRPr sz="950">
                <a:solidFill>
                  <a:srgbClr val="475569"/>
                </a:solidFill>
                <a:latin typeface="Segoe UI"/>
              </a:defRPr>
            </a:pPr>
            <a:r>
              <a:rPr sz="1300" dirty="0"/>
              <a:t>• Task and schedule visualization grid</a:t>
            </a:r>
          </a:p>
          <a:p>
            <a:pPr>
              <a:spcBef>
                <a:spcPts val="300"/>
              </a:spcBef>
              <a:defRPr sz="950">
                <a:solidFill>
                  <a:srgbClr val="475569"/>
                </a:solidFill>
                <a:latin typeface="Segoe UI"/>
              </a:defRPr>
            </a:pPr>
            <a:r>
              <a:rPr sz="1300" dirty="0"/>
              <a:t>• Active attention deck with priority indicators</a:t>
            </a:r>
          </a:p>
          <a:p>
            <a:pPr>
              <a:spcBef>
                <a:spcPts val="300"/>
              </a:spcBef>
              <a:defRPr sz="950">
                <a:solidFill>
                  <a:srgbClr val="475569"/>
                </a:solidFill>
                <a:latin typeface="Segoe UI"/>
              </a:defRPr>
            </a:pPr>
            <a:r>
              <a:rPr sz="1300" dirty="0"/>
              <a:t>• Proactive recommendation cards with 1-click approvals</a:t>
            </a:r>
          </a:p>
          <a:p>
            <a:pPr>
              <a:spcBef>
                <a:spcPts val="300"/>
              </a:spcBef>
              <a:defRPr sz="950">
                <a:solidFill>
                  <a:srgbClr val="475569"/>
                </a:solidFill>
                <a:latin typeface="Segoe UI"/>
              </a:defRPr>
            </a:pPr>
            <a:r>
              <a:rPr sz="1300" dirty="0"/>
              <a:t>• Natural language command input bar</a:t>
            </a:r>
          </a:p>
        </p:txBody>
      </p:sp>
      <p:sp>
        <p:nvSpPr>
          <p:cNvPr id="6" name="Rounded Rectangle 5"/>
          <p:cNvSpPr/>
          <p:nvPr/>
        </p:nvSpPr>
        <p:spPr>
          <a:xfrm>
            <a:off x="3328416" y="1508760"/>
            <a:ext cx="2651760" cy="3291840"/>
          </a:xfrm>
          <a:prstGeom prst="roundRect">
            <a:avLst/>
          </a:prstGeom>
          <a:solidFill>
            <a:srgbClr val="E6FFFA"/>
          </a:solidFill>
          <a:ln w="16510">
            <a:solidFill>
              <a:srgbClr val="0D9488"/>
            </a:solidFill>
          </a:ln>
        </p:spPr>
        <p:style>
          <a:lnRef idx="1">
            <a:schemeClr val="accent1"/>
          </a:lnRef>
          <a:fillRef idx="3">
            <a:schemeClr val="accent1"/>
          </a:fillRef>
          <a:effectRef idx="2">
            <a:schemeClr val="accent1"/>
          </a:effectRef>
          <a:fontRef idx="minor">
            <a:schemeClr val="lt1"/>
          </a:fontRef>
        </p:style>
        <p:txBody>
          <a:bodyPr wrap="square" lIns="146304" tIns="146304" rIns="146304" rtlCol="0" anchor="ctr"/>
          <a:lstStyle/>
          <a:p>
            <a:pPr algn="ctr">
              <a:defRPr sz="1300" b="1">
                <a:solidFill>
                  <a:srgbClr val="0D9488"/>
                </a:solidFill>
                <a:latin typeface="Segoe UI"/>
              </a:defRPr>
            </a:pPr>
            <a:r>
              <a:rPr sz="1300" dirty="0"/>
              <a:t>2. AI Decision Layer</a:t>
            </a:r>
          </a:p>
          <a:p>
            <a:pPr>
              <a:defRPr sz="1000" b="1">
                <a:solidFill>
                  <a:srgbClr val="0F172A"/>
                </a:solidFill>
                <a:latin typeface="Segoe UI"/>
              </a:defRPr>
            </a:pPr>
            <a:r>
              <a:rPr sz="1300" dirty="0"/>
              <a:t>LLM Reasoning Engine</a:t>
            </a:r>
          </a:p>
          <a:p>
            <a:pPr>
              <a:spcBef>
                <a:spcPts val="300"/>
              </a:spcBef>
              <a:defRPr sz="950">
                <a:solidFill>
                  <a:srgbClr val="475569"/>
                </a:solidFill>
                <a:latin typeface="Segoe UI"/>
              </a:defRPr>
            </a:pPr>
            <a:r>
              <a:rPr sz="1300" dirty="0"/>
              <a:t>• Intent classification and entity/deadline extraction</a:t>
            </a:r>
          </a:p>
          <a:p>
            <a:pPr>
              <a:spcBef>
                <a:spcPts val="300"/>
              </a:spcBef>
              <a:defRPr sz="950">
                <a:solidFill>
                  <a:srgbClr val="475569"/>
                </a:solidFill>
                <a:latin typeface="Segoe UI"/>
              </a:defRPr>
            </a:pPr>
            <a:r>
              <a:rPr sz="1300" dirty="0"/>
              <a:t>• Constraint satisfaction: calendar collision detection</a:t>
            </a:r>
          </a:p>
          <a:p>
            <a:pPr>
              <a:spcBef>
                <a:spcPts val="300"/>
              </a:spcBef>
              <a:defRPr sz="950">
                <a:solidFill>
                  <a:srgbClr val="475569"/>
                </a:solidFill>
                <a:latin typeface="Segoe UI"/>
              </a:defRPr>
            </a:pPr>
            <a:r>
              <a:rPr sz="1300" dirty="0"/>
              <a:t>• Structured function calling (JSON Plan generation)</a:t>
            </a:r>
          </a:p>
          <a:p>
            <a:pPr>
              <a:spcBef>
                <a:spcPts val="300"/>
              </a:spcBef>
              <a:defRPr sz="950">
                <a:solidFill>
                  <a:srgbClr val="475569"/>
                </a:solidFill>
                <a:latin typeface="Segoe UI"/>
              </a:defRPr>
            </a:pPr>
            <a:r>
              <a:rPr sz="1300" dirty="0"/>
              <a:t>• Risk evaluator: autonomous vs approval gating</a:t>
            </a:r>
          </a:p>
        </p:txBody>
      </p:sp>
      <p:sp>
        <p:nvSpPr>
          <p:cNvPr id="7" name="Rounded Rectangle 6"/>
          <p:cNvSpPr/>
          <p:nvPr/>
        </p:nvSpPr>
        <p:spPr>
          <a:xfrm>
            <a:off x="6199632" y="1508760"/>
            <a:ext cx="2651760" cy="3291840"/>
          </a:xfrm>
          <a:prstGeom prst="roundRect">
            <a:avLst/>
          </a:prstGeom>
          <a:solidFill>
            <a:srgbClr val="FEF3C7"/>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wrap="square" lIns="146304" tIns="146304" rIns="146304" rtlCol="0" anchor="ctr"/>
          <a:lstStyle/>
          <a:p>
            <a:pPr algn="ctr">
              <a:defRPr sz="1300" b="1">
                <a:solidFill>
                  <a:srgbClr val="B45309"/>
                </a:solidFill>
                <a:latin typeface="Segoe UI"/>
              </a:defRPr>
            </a:pPr>
            <a:r>
              <a:rPr sz="1300" dirty="0"/>
              <a:t>3. n8n Automation Backbone</a:t>
            </a:r>
          </a:p>
          <a:p>
            <a:pPr>
              <a:defRPr sz="1000" b="1">
                <a:solidFill>
                  <a:srgbClr val="0F172A"/>
                </a:solidFill>
                <a:latin typeface="Segoe UI"/>
              </a:defRPr>
            </a:pPr>
            <a:r>
              <a:rPr sz="1300" dirty="0"/>
              <a:t>Orchestration Engine</a:t>
            </a:r>
          </a:p>
          <a:p>
            <a:pPr>
              <a:spcBef>
                <a:spcPts val="300"/>
              </a:spcBef>
              <a:defRPr sz="950">
                <a:solidFill>
                  <a:srgbClr val="475569"/>
                </a:solidFill>
                <a:latin typeface="Segoe UI"/>
              </a:defRPr>
            </a:pPr>
            <a:r>
              <a:rPr sz="1300" dirty="0"/>
              <a:t>• Webhook endpoints receiving structured execution plans</a:t>
            </a:r>
          </a:p>
          <a:p>
            <a:pPr>
              <a:spcBef>
                <a:spcPts val="300"/>
              </a:spcBef>
              <a:defRPr sz="950">
                <a:solidFill>
                  <a:srgbClr val="475569"/>
                </a:solidFill>
                <a:latin typeface="Segoe UI"/>
              </a:defRPr>
            </a:pPr>
            <a:r>
              <a:rPr sz="1300" dirty="0"/>
              <a:t>• Google Calendar &amp; </a:t>
            </a:r>
            <a:r>
              <a:rPr sz="1300" dirty="0" err="1"/>
              <a:t>Todoist</a:t>
            </a:r>
            <a:r>
              <a:rPr sz="1300" dirty="0"/>
              <a:t> integration nodes</a:t>
            </a:r>
          </a:p>
          <a:p>
            <a:pPr>
              <a:spcBef>
                <a:spcPts val="300"/>
              </a:spcBef>
              <a:defRPr sz="950">
                <a:solidFill>
                  <a:srgbClr val="475569"/>
                </a:solidFill>
                <a:latin typeface="Segoe UI"/>
              </a:defRPr>
            </a:pPr>
            <a:r>
              <a:rPr sz="1300" dirty="0"/>
              <a:t>• Conditional branch nodes resolving conflict retries</a:t>
            </a:r>
          </a:p>
          <a:p>
            <a:pPr>
              <a:spcBef>
                <a:spcPts val="300"/>
              </a:spcBef>
              <a:defRPr sz="950">
                <a:solidFill>
                  <a:srgbClr val="475569"/>
                </a:solidFill>
                <a:latin typeface="Segoe UI"/>
              </a:defRPr>
            </a:pPr>
            <a:r>
              <a:rPr sz="1300" dirty="0"/>
              <a:t>• Cron nodes running 30-min background audits</a:t>
            </a:r>
          </a:p>
        </p:txBody>
      </p:sp>
      <p:sp>
        <p:nvSpPr>
          <p:cNvPr id="8" name="Rounded Rectangle 7"/>
          <p:cNvSpPr/>
          <p:nvPr/>
        </p:nvSpPr>
        <p:spPr>
          <a:xfrm>
            <a:off x="9070848" y="1508760"/>
            <a:ext cx="2651760" cy="3291840"/>
          </a:xfrm>
          <a:prstGeom prst="roundRect">
            <a:avLst/>
          </a:prstGeom>
          <a:solidFill>
            <a:srgbClr val="F1F5F9"/>
          </a:solidFill>
          <a:ln w="16510">
            <a:solidFill>
              <a:srgbClr val="475569"/>
            </a:solidFill>
          </a:ln>
        </p:spPr>
        <p:style>
          <a:lnRef idx="1">
            <a:schemeClr val="accent1"/>
          </a:lnRef>
          <a:fillRef idx="3">
            <a:schemeClr val="accent1"/>
          </a:fillRef>
          <a:effectRef idx="2">
            <a:schemeClr val="accent1"/>
          </a:effectRef>
          <a:fontRef idx="minor">
            <a:schemeClr val="lt1"/>
          </a:fontRef>
        </p:style>
        <p:txBody>
          <a:bodyPr wrap="square" lIns="146304" tIns="146304" rIns="146304" rtlCol="0" anchor="ctr"/>
          <a:lstStyle/>
          <a:p>
            <a:pPr algn="ctr">
              <a:defRPr sz="1300" b="1">
                <a:solidFill>
                  <a:srgbClr val="475569"/>
                </a:solidFill>
                <a:latin typeface="Segoe UI"/>
              </a:defRPr>
            </a:pPr>
            <a:r>
              <a:rPr sz="1300" dirty="0"/>
              <a:t>4. Persistent Memory Layer</a:t>
            </a:r>
          </a:p>
          <a:p>
            <a:pPr>
              <a:defRPr sz="1000" b="1">
                <a:solidFill>
                  <a:srgbClr val="0F172A"/>
                </a:solidFill>
                <a:latin typeface="Segoe UI"/>
              </a:defRPr>
            </a:pPr>
            <a:r>
              <a:rPr sz="1300" dirty="0"/>
              <a:t>PostgreSQL / </a:t>
            </a:r>
            <a:r>
              <a:rPr sz="1300" dirty="0" err="1"/>
              <a:t>Supabase</a:t>
            </a:r>
            <a:endParaRPr sz="1300" dirty="0"/>
          </a:p>
          <a:p>
            <a:pPr>
              <a:spcBef>
                <a:spcPts val="300"/>
              </a:spcBef>
              <a:defRPr sz="950">
                <a:solidFill>
                  <a:srgbClr val="475569"/>
                </a:solidFill>
                <a:latin typeface="Segoe UI"/>
              </a:defRPr>
            </a:pPr>
            <a:r>
              <a:rPr sz="1300" dirty="0"/>
              <a:t>• Tasks, deadlines, and priority registry tables</a:t>
            </a:r>
          </a:p>
          <a:p>
            <a:pPr>
              <a:spcBef>
                <a:spcPts val="300"/>
              </a:spcBef>
              <a:defRPr sz="950">
                <a:solidFill>
                  <a:srgbClr val="475569"/>
                </a:solidFill>
                <a:latin typeface="Segoe UI"/>
              </a:defRPr>
            </a:pPr>
            <a:r>
              <a:rPr sz="1300" dirty="0"/>
              <a:t>• User schedule cache and habit preferences</a:t>
            </a:r>
          </a:p>
          <a:p>
            <a:pPr>
              <a:spcBef>
                <a:spcPts val="300"/>
              </a:spcBef>
              <a:defRPr sz="950">
                <a:solidFill>
                  <a:srgbClr val="475569"/>
                </a:solidFill>
                <a:latin typeface="Segoe UI"/>
              </a:defRPr>
            </a:pPr>
            <a:r>
              <a:rPr sz="1300" dirty="0"/>
              <a:t>• Execution history audit trail table</a:t>
            </a:r>
          </a:p>
          <a:p>
            <a:pPr>
              <a:spcBef>
                <a:spcPts val="300"/>
              </a:spcBef>
              <a:defRPr sz="950">
                <a:solidFill>
                  <a:srgbClr val="475569"/>
                </a:solidFill>
                <a:latin typeface="Segoe UI"/>
              </a:defRPr>
            </a:pPr>
            <a:r>
              <a:rPr sz="1300" dirty="0"/>
              <a:t>• Active workflow run status logs</a:t>
            </a:r>
          </a:p>
        </p:txBody>
      </p:sp>
      <p:sp>
        <p:nvSpPr>
          <p:cNvPr id="9" name="Rounded Rectangle 8"/>
          <p:cNvSpPr/>
          <p:nvPr/>
        </p:nvSpPr>
        <p:spPr>
          <a:xfrm>
            <a:off x="457200" y="4937760"/>
            <a:ext cx="11274552" cy="15087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lIns="201168" tIns="109728" rtlCol="0" anchor="ctr"/>
          <a:lstStyle/>
          <a:p>
            <a:pPr algn="ctr">
              <a:defRPr sz="1100" b="1">
                <a:solidFill>
                  <a:srgbClr val="0284C7"/>
                </a:solidFill>
                <a:latin typeface="Segoe UI"/>
              </a:defRPr>
            </a:pPr>
            <a:r>
              <a:rPr sz="1200" dirty="0"/>
              <a:t>DEMONSTRABLE END-TO-END WORKFLOWS (THE HACKATHON PROOF):</a:t>
            </a:r>
          </a:p>
          <a:p>
            <a:pPr>
              <a:spcBef>
                <a:spcPts val="300"/>
              </a:spcBef>
              <a:defRPr sz="1000" b="1">
                <a:solidFill>
                  <a:srgbClr val="0F172A"/>
                </a:solidFill>
                <a:latin typeface="Segoe UI"/>
              </a:defRPr>
            </a:pPr>
            <a:r>
              <a:rPr sz="1200" dirty="0"/>
              <a:t>⚡ Workflow 1: One-Command Exam &amp; Assignment Organizer — </a:t>
            </a:r>
            <a:r>
              <a:rPr sz="1200" b="0" dirty="0">
                <a:solidFill>
                  <a:srgbClr val="475569"/>
                </a:solidFill>
              </a:rPr>
              <a:t>User inputs one sentence → LLM decomposes plan → n8n creates 6 Google Calendar blocks + 4 Todo</a:t>
            </a:r>
            <a:r>
              <a:rPr lang="en-IN" sz="1200" b="0" dirty="0">
                <a:solidFill>
                  <a:srgbClr val="475569"/>
                </a:solidFill>
              </a:rPr>
              <a:t>l</a:t>
            </a:r>
            <a:r>
              <a:rPr sz="1200" b="0" dirty="0" err="1">
                <a:solidFill>
                  <a:srgbClr val="475569"/>
                </a:solidFill>
              </a:rPr>
              <a:t>ist</a:t>
            </a:r>
            <a:r>
              <a:rPr sz="1200" b="0" dirty="0">
                <a:solidFill>
                  <a:srgbClr val="475569"/>
                </a:solidFill>
              </a:rPr>
              <a:t> tasks + sets push alert.</a:t>
            </a:r>
          </a:p>
          <a:p>
            <a:pPr>
              <a:spcBef>
                <a:spcPts val="300"/>
              </a:spcBef>
              <a:defRPr sz="1000" b="1">
                <a:solidFill>
                  <a:srgbClr val="0F172A"/>
                </a:solidFill>
                <a:latin typeface="Segoe UI"/>
              </a:defRPr>
            </a:pPr>
            <a:r>
              <a:rPr sz="1200" dirty="0"/>
              <a:t>⚡ Workflow 2: Morning Proactive Conflict Detection &amp; Resolution — </a:t>
            </a:r>
            <a:r>
              <a:rPr sz="1200" b="0" dirty="0">
                <a:solidFill>
                  <a:srgbClr val="475569"/>
                </a:solidFill>
              </a:rPr>
              <a:t>n8n detects 3 PM overlap → LLM synthesizes shift proposal → Dashboard renders actionable card → 1-click execution resolves calendar.</a:t>
            </a:r>
          </a:p>
          <a:p>
            <a:pPr>
              <a:spcBef>
                <a:spcPts val="400"/>
              </a:spcBef>
              <a:defRPr sz="1000" b="1">
                <a:solidFill>
                  <a:srgbClr val="10B981"/>
                </a:solidFill>
                <a:latin typeface="Segoe UI"/>
              </a:defRPr>
            </a:pPr>
            <a:r>
              <a:rPr sz="1200" dirty="0"/>
              <a:t>★ Judge Takeaway: Goal is to demonstrate complete, reliable autonomous workflows — not a collection of disconnected features.</a:t>
            </a:r>
          </a:p>
        </p:txBody>
      </p:sp>
      <p:sp>
        <p:nvSpPr>
          <p:cNvPr id="10" name="TextBox 9"/>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9 of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ia_1791123042663.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57200" y="320040"/>
            <a:ext cx="3840480" cy="292608"/>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00" b="1">
                <a:solidFill>
                  <a:srgbClr val="0369A1"/>
                </a:solidFill>
                <a:latin typeface="Segoe UI"/>
              </a:defRPr>
            </a:pPr>
            <a:r>
              <a:t>ROADMAP &amp; VISION</a:t>
            </a:r>
          </a:p>
        </p:txBody>
      </p:sp>
      <p:sp>
        <p:nvSpPr>
          <p:cNvPr id="4" name="TextBox 3"/>
          <p:cNvSpPr txBox="1"/>
          <p:nvPr/>
        </p:nvSpPr>
        <p:spPr>
          <a:xfrm>
            <a:off x="457200" y="640080"/>
            <a:ext cx="11274552" cy="777240"/>
          </a:xfrm>
          <a:prstGeom prst="rect">
            <a:avLst/>
          </a:prstGeom>
          <a:noFill/>
        </p:spPr>
        <p:txBody>
          <a:bodyPr wrap="square" lIns="0" tIns="0" rIns="0" bIns="0">
            <a:spAutoFit/>
          </a:bodyPr>
          <a:lstStyle/>
          <a:p>
            <a:pPr>
              <a:defRPr sz="2600" b="1">
                <a:solidFill>
                  <a:srgbClr val="0F172A"/>
                </a:solidFill>
                <a:latin typeface="Segoe UI"/>
              </a:defRPr>
            </a:pPr>
            <a:r>
              <a:t>Future Scope &amp; The Paradigm Shift</a:t>
            </a:r>
          </a:p>
          <a:p>
            <a:pPr>
              <a:spcBef>
                <a:spcPts val="200"/>
              </a:spcBef>
              <a:defRPr sz="1350">
                <a:solidFill>
                  <a:srgbClr val="475569"/>
                </a:solidFill>
                <a:latin typeface="Segoe UI"/>
              </a:defRPr>
            </a:pPr>
            <a:r>
              <a:t>Transforming AI from a passive system that advises into an active partner that executes</a:t>
            </a:r>
          </a:p>
        </p:txBody>
      </p:sp>
      <p:sp>
        <p:nvSpPr>
          <p:cNvPr id="5" name="Rounded Rectangle 4"/>
          <p:cNvSpPr/>
          <p:nvPr/>
        </p:nvSpPr>
        <p:spPr>
          <a:xfrm>
            <a:off x="457200" y="1508760"/>
            <a:ext cx="2651760" cy="1508760"/>
          </a:xfrm>
          <a:prstGeom prst="roundRect">
            <a:avLst/>
          </a:prstGeom>
          <a:solidFill>
            <a:srgbClr val="E0F2FE"/>
          </a:solidFill>
          <a:ln w="16510">
            <a:solidFill>
              <a:srgbClr val="0369A1"/>
            </a:solidFill>
          </a:ln>
        </p:spPr>
        <p:style>
          <a:lnRef idx="1">
            <a:schemeClr val="accent1"/>
          </a:lnRef>
          <a:fillRef idx="3">
            <a:schemeClr val="accent1"/>
          </a:fillRef>
          <a:effectRef idx="2">
            <a:schemeClr val="accent1"/>
          </a:effectRef>
          <a:fontRef idx="minor">
            <a:schemeClr val="lt1"/>
          </a:fontRef>
        </p:style>
        <p:txBody>
          <a:bodyPr wrap="square" lIns="146304" tIns="128016" rIns="146304" rtlCol="0" anchor="ctr"/>
          <a:lstStyle/>
          <a:p>
            <a:pPr algn="ctr">
              <a:defRPr sz="1200" b="1">
                <a:solidFill>
                  <a:srgbClr val="0369A1"/>
                </a:solidFill>
                <a:latin typeface="Segoe UI"/>
              </a:defRPr>
            </a:pPr>
            <a:r>
              <a:rPr sz="1200" dirty="0"/>
              <a:t>✦  Ecosystem Expansion</a:t>
            </a:r>
          </a:p>
          <a:p>
            <a:pPr>
              <a:spcBef>
                <a:spcPts val="300"/>
              </a:spcBef>
              <a:defRPr sz="1000">
                <a:solidFill>
                  <a:srgbClr val="475569"/>
                </a:solidFill>
                <a:latin typeface="Segoe UI"/>
              </a:defRPr>
            </a:pPr>
            <a:r>
              <a:rPr sz="1200" dirty="0"/>
              <a:t>Integrate Canvas LMS, Notion API, Outlook Calendar, and Slack workspace bots.</a:t>
            </a:r>
          </a:p>
        </p:txBody>
      </p:sp>
      <p:sp>
        <p:nvSpPr>
          <p:cNvPr id="6" name="Rounded Rectangle 5"/>
          <p:cNvSpPr/>
          <p:nvPr/>
        </p:nvSpPr>
        <p:spPr>
          <a:xfrm>
            <a:off x="3328416" y="1508760"/>
            <a:ext cx="2651760" cy="1508760"/>
          </a:xfrm>
          <a:prstGeom prst="roundRect">
            <a:avLst/>
          </a:prstGeom>
          <a:solidFill>
            <a:srgbClr val="E6FFFA"/>
          </a:solidFill>
          <a:ln w="16510">
            <a:solidFill>
              <a:srgbClr val="0D9488"/>
            </a:solidFill>
          </a:ln>
        </p:spPr>
        <p:style>
          <a:lnRef idx="1">
            <a:schemeClr val="accent1"/>
          </a:lnRef>
          <a:fillRef idx="3">
            <a:schemeClr val="accent1"/>
          </a:fillRef>
          <a:effectRef idx="2">
            <a:schemeClr val="accent1"/>
          </a:effectRef>
          <a:fontRef idx="minor">
            <a:schemeClr val="lt1"/>
          </a:fontRef>
        </p:style>
        <p:txBody>
          <a:bodyPr wrap="square" lIns="146304" tIns="128016" rIns="146304" rtlCol="0" anchor="ctr"/>
          <a:lstStyle/>
          <a:p>
            <a:pPr algn="ctr">
              <a:defRPr sz="1200" b="1">
                <a:solidFill>
                  <a:srgbClr val="0D9488"/>
                </a:solidFill>
                <a:latin typeface="Segoe UI"/>
              </a:defRPr>
            </a:pPr>
            <a:r>
              <a:rPr sz="1200" dirty="0"/>
              <a:t>✦  Native Mobile App</a:t>
            </a:r>
          </a:p>
          <a:p>
            <a:pPr>
              <a:spcBef>
                <a:spcPts val="300"/>
              </a:spcBef>
              <a:defRPr sz="1000">
                <a:solidFill>
                  <a:srgbClr val="475569"/>
                </a:solidFill>
                <a:latin typeface="Segoe UI"/>
              </a:defRPr>
            </a:pPr>
            <a:r>
              <a:rPr sz="1200" dirty="0"/>
              <a:t>iOS &amp; Android command center widgets for on-the-go proactive glanceability.</a:t>
            </a:r>
          </a:p>
        </p:txBody>
      </p:sp>
      <p:sp>
        <p:nvSpPr>
          <p:cNvPr id="7" name="Rounded Rectangle 6"/>
          <p:cNvSpPr/>
          <p:nvPr/>
        </p:nvSpPr>
        <p:spPr>
          <a:xfrm>
            <a:off x="6199632" y="1508760"/>
            <a:ext cx="2651760" cy="1508760"/>
          </a:xfrm>
          <a:prstGeom prst="roundRect">
            <a:avLst/>
          </a:prstGeom>
          <a:solidFill>
            <a:srgbClr val="FEF3C7"/>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wrap="square" lIns="146304" tIns="128016" rIns="146304" rtlCol="0" anchor="ctr"/>
          <a:lstStyle/>
          <a:p>
            <a:pPr algn="ctr">
              <a:defRPr sz="1200" b="1">
                <a:solidFill>
                  <a:srgbClr val="B45309"/>
                </a:solidFill>
                <a:latin typeface="Segoe UI"/>
              </a:defRPr>
            </a:pPr>
            <a:r>
              <a:rPr sz="1200" dirty="0"/>
              <a:t>✦  Advanced Optimization</a:t>
            </a:r>
          </a:p>
          <a:p>
            <a:pPr>
              <a:spcBef>
                <a:spcPts val="300"/>
              </a:spcBef>
              <a:defRPr sz="1000">
                <a:solidFill>
                  <a:srgbClr val="475569"/>
                </a:solidFill>
                <a:latin typeface="Segoe UI"/>
              </a:defRPr>
            </a:pPr>
            <a:r>
              <a:rPr sz="1200" dirty="0"/>
              <a:t>Constraint-satisfaction solvers balancing energy levels, travel times, and focus depth.</a:t>
            </a:r>
          </a:p>
        </p:txBody>
      </p:sp>
      <p:sp>
        <p:nvSpPr>
          <p:cNvPr id="8" name="Rounded Rectangle 7"/>
          <p:cNvSpPr/>
          <p:nvPr/>
        </p:nvSpPr>
        <p:spPr>
          <a:xfrm>
            <a:off x="9070848" y="1508760"/>
            <a:ext cx="2651760" cy="1508760"/>
          </a:xfrm>
          <a:prstGeom prst="roundRect">
            <a:avLst/>
          </a:prstGeom>
          <a:solidFill>
            <a:srgbClr val="F1F5F9"/>
          </a:solidFill>
          <a:ln w="16510">
            <a:solidFill>
              <a:srgbClr val="475569"/>
            </a:solidFill>
          </a:ln>
        </p:spPr>
        <p:style>
          <a:lnRef idx="1">
            <a:schemeClr val="accent1"/>
          </a:lnRef>
          <a:fillRef idx="3">
            <a:schemeClr val="accent1"/>
          </a:fillRef>
          <a:effectRef idx="2">
            <a:schemeClr val="accent1"/>
          </a:effectRef>
          <a:fontRef idx="minor">
            <a:schemeClr val="lt1"/>
          </a:fontRef>
        </p:style>
        <p:txBody>
          <a:bodyPr wrap="square" lIns="146304" tIns="128016" rIns="146304" rtlCol="0" anchor="ctr"/>
          <a:lstStyle/>
          <a:p>
            <a:pPr algn="ctr">
              <a:defRPr sz="1200" b="1">
                <a:solidFill>
                  <a:srgbClr val="475569"/>
                </a:solidFill>
                <a:latin typeface="Segoe UI"/>
              </a:defRPr>
            </a:pPr>
            <a:r>
              <a:rPr sz="1200" dirty="0"/>
              <a:t>✦  Voice &amp; Conversational NLP</a:t>
            </a:r>
          </a:p>
          <a:p>
            <a:pPr>
              <a:spcBef>
                <a:spcPts val="300"/>
              </a:spcBef>
              <a:defRPr sz="1000">
                <a:solidFill>
                  <a:srgbClr val="475569"/>
                </a:solidFill>
                <a:latin typeface="Segoe UI"/>
              </a:defRPr>
            </a:pPr>
            <a:r>
              <a:rPr sz="1200" dirty="0"/>
              <a:t>Hands-free voice command interface (deliberately scoped for Phase 2).</a:t>
            </a:r>
          </a:p>
        </p:txBody>
      </p:sp>
      <p:sp>
        <p:nvSpPr>
          <p:cNvPr id="9" name="Rounded Rectangle 8"/>
          <p:cNvSpPr/>
          <p:nvPr/>
        </p:nvSpPr>
        <p:spPr>
          <a:xfrm>
            <a:off x="457200" y="3154680"/>
            <a:ext cx="11274552" cy="329184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337560"/>
            <a:ext cx="10607040" cy="2926080"/>
          </a:xfrm>
          <a:prstGeom prst="rect">
            <a:avLst/>
          </a:prstGeom>
          <a:noFill/>
        </p:spPr>
        <p:txBody>
          <a:bodyPr wrap="square" lIns="0" tIns="0" rIns="0" bIns="0">
            <a:spAutoFit/>
          </a:bodyPr>
          <a:lstStyle/>
          <a:p>
            <a:pPr>
              <a:defRPr sz="1200" b="1">
                <a:solidFill>
                  <a:srgbClr val="38BDF8"/>
                </a:solidFill>
                <a:latin typeface="Segoe UI"/>
              </a:defRPr>
            </a:pPr>
            <a:r>
              <a:t>THE PARADIGM SHIFT IN AI AUTOMATION</a:t>
            </a:r>
          </a:p>
          <a:p>
            <a:pPr>
              <a:spcBef>
                <a:spcPts val="400"/>
              </a:spcBef>
              <a:defRPr sz="1400">
                <a:solidFill>
                  <a:srgbClr val="F1F5F9"/>
                </a:solidFill>
                <a:latin typeface="Segoe UI"/>
              </a:defRPr>
            </a:pPr>
            <a:r>
              <a:t>OPHELIA transforms AI from a system that merely responds to requests into a system that can:</a:t>
            </a:r>
          </a:p>
          <a:p>
            <a:pPr>
              <a:spcBef>
                <a:spcPts val="1000"/>
              </a:spcBef>
              <a:defRPr sz="1700" b="1">
                <a:solidFill>
                  <a:srgbClr val="34D399"/>
                </a:solidFill>
                <a:latin typeface="Segoe UI"/>
              </a:defRPr>
            </a:pPr>
            <a:r>
              <a:t>UNDERSTAND  →  REASON  →  PLAN  →  EXECUTE VIA n8n  →  LEARN FROM CONTEXT</a:t>
            </a:r>
          </a:p>
          <a:p>
            <a:pPr>
              <a:spcBef>
                <a:spcPts val="1200"/>
              </a:spcBef>
              <a:defRPr sz="4000" b="1">
                <a:solidFill>
                  <a:srgbClr val="FFFFFF"/>
                </a:solidFill>
                <a:latin typeface="Segoe UI"/>
              </a:defRPr>
            </a:pPr>
            <a:r>
              <a:t>OPHELIA</a:t>
            </a:r>
          </a:p>
          <a:p>
            <a:pPr>
              <a:spcBef>
                <a:spcPts val="200"/>
              </a:spcBef>
              <a:defRPr sz="1700">
                <a:solidFill>
                  <a:srgbClr val="94A3B8"/>
                </a:solidFill>
                <a:latin typeface="Segoe UI"/>
              </a:defRPr>
            </a:pPr>
            <a:r>
              <a:t>Your personal command center for getting things done.</a:t>
            </a:r>
          </a:p>
        </p:txBody>
      </p:sp>
      <p:sp>
        <p:nvSpPr>
          <p:cNvPr id="11" name="TextBox 10"/>
          <p:cNvSpPr txBox="1"/>
          <p:nvPr/>
        </p:nvSpPr>
        <p:spPr>
          <a:xfrm>
            <a:off x="457200" y="6510528"/>
            <a:ext cx="11274552" cy="274320"/>
          </a:xfrm>
          <a:prstGeom prst="rect">
            <a:avLst/>
          </a:prstGeom>
          <a:noFill/>
        </p:spPr>
        <p:txBody>
          <a:bodyPr wrap="square" lIns="0" tIns="0" rIns="0" bIns="0">
            <a:spAutoFit/>
          </a:bodyPr>
          <a:lstStyle/>
          <a:p>
            <a:pPr>
              <a:defRPr sz="950" b="1">
                <a:solidFill>
                  <a:srgbClr val="64748B"/>
                </a:solidFill>
                <a:latin typeface="Segoe UI"/>
              </a:defRPr>
            </a:pPr>
            <a:r>
              <a:t>OPHELIA  •  Intelligent Personal Automation Assistant</a:t>
            </a:r>
            <a:r>
              <a:rPr b="0">
                <a:solidFill>
                  <a:srgbClr val="94A3B8"/>
                </a:solidFill>
              </a:rPr>
              <a:t>             |   Autonomous Execution via n8n   |   Slide 10 of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2631</Words>
  <Application>Microsoft Office PowerPoint</Application>
  <PresentationFormat>Widescreen</PresentationFormat>
  <Paragraphs>289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Punyashri Gowda</cp:lastModifiedBy>
  <cp:revision>2</cp:revision>
  <dcterms:created xsi:type="dcterms:W3CDTF">2013-01-27T09:14:16Z</dcterms:created>
  <dcterms:modified xsi:type="dcterms:W3CDTF">2026-10-04T15:16:32Z</dcterms:modified>
  <cp:category/>
</cp:coreProperties>
</file>